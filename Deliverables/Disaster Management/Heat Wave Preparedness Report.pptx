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font" Target="fonts/font1.fntdata" /><Relationship Id="rId2" Type="http://schemas.openxmlformats.org/officeDocument/2006/relationships/tableStyles" Target="tableStyles.xml" /><Relationship Id="rId20" Type="http://schemas.openxmlformats.org/officeDocument/2006/relationships/font" Target="fonts/font2.fntdata" /><Relationship Id="rId21" Type="http://schemas.openxmlformats.org/officeDocument/2006/relationships/font" Target="fonts/font3.fntdata" /><Relationship Id="rId22" Type="http://schemas.openxmlformats.org/officeDocument/2006/relationships/font" Target="fonts/font4.fntdata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f8fafc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2450558"/>
            <a:ext cx="8985503" cy="12824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829"/>
              </a:lnSpc>
              <a:spcBef>
                <a:spcPts val="0"/>
              </a:spcBef>
              <a:spcAft>
                <a:spcPts val="0"/>
              </a:spcAft>
            </a:pP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Heat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Wave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Response,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Recovery,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Future</a:t>
            </a:r>
          </a:p>
          <a:p>
            <a:pPr marL="0" marR="0">
              <a:lnSpc>
                <a:spcPts val="4829"/>
              </a:lnSpc>
              <a:spcBef>
                <a:spcPts val="188"/>
              </a:spcBef>
              <a:spcAft>
                <a:spcPts val="0"/>
              </a:spcAft>
            </a:pP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Challenges,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and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the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Role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of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3450" b="1">
                <a:solidFill>
                  <a:srgbClr val="f8fafc"/>
                </a:solidFill>
                <a:latin typeface="FUHLFW+Poppins-Bold"/>
                <a:cs typeface="FUHLFW+Poppins-Bold"/>
              </a:rPr>
              <a:t>Technology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9600" y="3828358"/>
            <a:ext cx="6536053" cy="247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A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Ground-Level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Assessment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and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Preparedness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Study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(New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Delhi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NCR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500">
                <a:solidFill>
                  <a:srgbClr val="cbd5e1"/>
                </a:solidFill>
                <a:latin typeface="UASKTA+Lato-Regular"/>
                <a:cs typeface="UASKTA+Lato-Regular"/>
              </a:rPr>
              <a:t>Focus)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9600" y="4631887"/>
            <a:ext cx="878833" cy="165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b="1">
                <a:solidFill>
                  <a:srgbClr val="ea580c"/>
                </a:solidFill>
                <a:latin typeface="AWCUSW+Lato-Bold"/>
                <a:cs typeface="AWCUSW+Lato-Bold"/>
              </a:rPr>
              <a:t>RESEARCHER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48000" y="4631887"/>
            <a:ext cx="872832" cy="165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b="1">
                <a:solidFill>
                  <a:srgbClr val="ea580c"/>
                </a:solidFill>
                <a:latin typeface="AWCUSW+Lato-Bold"/>
                <a:cs typeface="AWCUSW+Lato-Bold"/>
              </a:rPr>
              <a:t>INSTITUTION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6400" y="4631887"/>
            <a:ext cx="949413" cy="165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b="1">
                <a:solidFill>
                  <a:srgbClr val="ea580c"/>
                </a:solidFill>
                <a:latin typeface="AWCUSW+Lato-Bold"/>
                <a:cs typeface="AWCUSW+Lato-Bold"/>
              </a:rPr>
              <a:t>ROLL</a:t>
            </a:r>
            <a:r>
              <a:rPr dirty="0" sz="900" b="1">
                <a:solidFill>
                  <a:srgbClr val="ea580c"/>
                </a:solidFill>
                <a:latin typeface="AWCUSW+Lato-Bold"/>
                <a:cs typeface="AWCUSW+Lato-Bold"/>
              </a:rPr>
              <a:t> </a:t>
            </a:r>
            <a:r>
              <a:rPr dirty="0" sz="900" b="1">
                <a:solidFill>
                  <a:srgbClr val="ea580c"/>
                </a:solidFill>
                <a:latin typeface="AWCUSW+Lato-Bold"/>
                <a:cs typeface="AWCUSW+Lato-Bold"/>
              </a:rPr>
              <a:t>NUMBER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924800" y="4631887"/>
            <a:ext cx="774649" cy="165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b="1">
                <a:solidFill>
                  <a:srgbClr val="ea580c"/>
                </a:solidFill>
                <a:latin typeface="AWCUSW+Lato-Bold"/>
                <a:cs typeface="AWCUSW+Lato-Bold"/>
              </a:rPr>
              <a:t>DATE</a:t>
            </a:r>
            <a:r>
              <a:rPr dirty="0" sz="900" b="1">
                <a:solidFill>
                  <a:srgbClr val="ea580c"/>
                </a:solidFill>
                <a:latin typeface="AWCUSW+Lato-Bold"/>
                <a:cs typeface="AWCUSW+Lato-Bold"/>
              </a:rPr>
              <a:t> </a:t>
            </a:r>
            <a:r>
              <a:rPr dirty="0" sz="900" b="1">
                <a:solidFill>
                  <a:srgbClr val="ea580c"/>
                </a:solidFill>
                <a:latin typeface="AWCUSW+Lato-Bold"/>
                <a:cs typeface="AWCUSW+Lato-Bold"/>
              </a:rPr>
              <a:t>SPAN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9600" y="4813815"/>
            <a:ext cx="74234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Srinjoy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 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Sil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48000" y="4813815"/>
            <a:ext cx="109311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MCKV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 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Institute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86400" y="4813815"/>
            <a:ext cx="100317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11600223119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924800" y="4813815"/>
            <a:ext cx="152777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June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 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17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 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–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 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July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 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31,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 </a:t>
            </a:r>
            <a:r>
              <a:rPr dirty="0" sz="1050" b="1">
                <a:solidFill>
                  <a:srgbClr val="f8fafc"/>
                </a:solidFill>
                <a:latin typeface="AWCUSW+Lato-Bold"/>
                <a:cs typeface="AWCUSW+Lato-Bold"/>
              </a:rPr>
              <a:t>2026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9600" y="6494354"/>
            <a:ext cx="2141334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Wave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982325" y="6494354"/>
            <a:ext cx="607771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1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of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047749"/>
            <a:ext cx="4823364" cy="54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Meteorological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Baselines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41589" y="3125152"/>
            <a:ext cx="4355762" cy="3848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Defining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Extreme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Thermal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Events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08030" y="3276599"/>
            <a:ext cx="3372135" cy="1504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50"/>
              </a:lnSpc>
              <a:spcBef>
                <a:spcPts val="0"/>
              </a:spcBef>
              <a:spcAft>
                <a:spcPts val="0"/>
              </a:spcAft>
            </a:pPr>
            <a:r>
              <a:rPr dirty="0" sz="8250" b="1">
                <a:solidFill>
                  <a:srgbClr val="ea580c"/>
                </a:solidFill>
                <a:latin typeface="FUHLFW+Poppins-Bold"/>
                <a:cs typeface="FUHLFW+Poppins-Bold"/>
              </a:rPr>
              <a:t>≥40°C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41589" y="3799452"/>
            <a:ext cx="6154522" cy="15436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86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The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India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Meteorological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Department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(IMD)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officially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declares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a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heat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wave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when</a:t>
            </a:r>
          </a:p>
          <a:p>
            <a:pPr marL="0" marR="0">
              <a:lnSpc>
                <a:spcPts val="1486"/>
              </a:lnSpc>
              <a:spcBef>
                <a:spcPts val="1105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plains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cross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40°C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hilly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areas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cross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30°C.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Driven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by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accelerating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global</a:t>
            </a:r>
          </a:p>
          <a:p>
            <a:pPr marL="0" marR="0">
              <a:lnSpc>
                <a:spcPts val="1486"/>
              </a:lnSpc>
              <a:spcBef>
                <a:spcPts val="1105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greenhouse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emissions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high-albedo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urban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development,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these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hazards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have</a:t>
            </a:r>
          </a:p>
          <a:p>
            <a:pPr marL="0" marR="0">
              <a:lnSpc>
                <a:spcPts val="1486"/>
              </a:lnSpc>
              <a:spcBef>
                <a:spcPts val="1105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shifted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from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rare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seasonal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anomalies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into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intense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annual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disasters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impacting</a:t>
            </a:r>
          </a:p>
          <a:p>
            <a:pPr marL="0" marR="0">
              <a:lnSpc>
                <a:spcPts val="1486"/>
              </a:lnSpc>
              <a:spcBef>
                <a:spcPts val="1105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millions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across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the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subcontinent.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94544" y="4585334"/>
            <a:ext cx="1795662" cy="2296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8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f172a"/>
                </a:solidFill>
                <a:latin typeface="AWCUSW+Lato-Bold"/>
                <a:cs typeface="AWCUSW+Lato-Bold"/>
              </a:rPr>
              <a:t>PLAINS</a:t>
            </a:r>
            <a:r>
              <a:rPr dirty="0" sz="1350" b="1">
                <a:solidFill>
                  <a:srgbClr val="0f172a"/>
                </a:solidFill>
                <a:latin typeface="AWCUSW+Lato-Bold"/>
                <a:cs typeface="AWCUSW+Lato-Bold"/>
              </a:rPr>
              <a:t> </a:t>
            </a:r>
            <a:r>
              <a:rPr dirty="0" sz="1350" b="1">
                <a:solidFill>
                  <a:srgbClr val="0f172a"/>
                </a:solidFill>
                <a:latin typeface="AWCUSW+Lato-Bold"/>
                <a:cs typeface="AWCUSW+Lato-Bold"/>
              </a:rPr>
              <a:t>THRESHOLD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09600" y="6494354"/>
            <a:ext cx="2141334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Wave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982325" y="6494354"/>
            <a:ext cx="607771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2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of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995587"/>
            <a:ext cx="6987648" cy="54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Summer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2026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State-Wise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Anomalies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3100" y="2887656"/>
            <a:ext cx="1303829" cy="238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spc="14">
                <a:solidFill>
                  <a:srgbClr val="f8fafc"/>
                </a:solidFill>
                <a:latin typeface="LOTLCT+Poppins-SemiBold"/>
                <a:cs typeface="LOTLCT+Poppins-SemiBold"/>
              </a:rPr>
              <a:t>Region</a:t>
            </a:r>
            <a:r>
              <a:rPr dirty="0" sz="1100">
                <a:solidFill>
                  <a:srgbClr val="f8fafc"/>
                </a:solidFill>
                <a:latin typeface="LOTLCT+Poppins-SemiBold"/>
                <a:cs typeface="LOTLCT+Poppins-SemiBold"/>
              </a:rPr>
              <a:t> </a:t>
            </a:r>
            <a:r>
              <a:rPr dirty="0" sz="1100" spc="12">
                <a:solidFill>
                  <a:srgbClr val="f8fafc"/>
                </a:solidFill>
                <a:latin typeface="LOTLCT+Poppins-SemiBold"/>
                <a:cs typeface="LOTLCT+Poppins-SemiBold"/>
              </a:rPr>
              <a:t>Affected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22949" y="2887656"/>
            <a:ext cx="2227945" cy="69717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spc="15">
                <a:solidFill>
                  <a:srgbClr val="f8fafc"/>
                </a:solidFill>
                <a:latin typeface="LOTLCT+Poppins-SemiBold"/>
                <a:cs typeface="LOTLCT+Poppins-SemiBold"/>
              </a:rPr>
              <a:t>Peak</a:t>
            </a:r>
            <a:r>
              <a:rPr dirty="0" sz="1100">
                <a:solidFill>
                  <a:srgbClr val="f8fafc"/>
                </a:solidFill>
                <a:latin typeface="LOTLCT+Poppins-SemiBold"/>
                <a:cs typeface="LOTLCT+Poppins-SemiBold"/>
              </a:rPr>
              <a:t> </a:t>
            </a:r>
            <a:r>
              <a:rPr dirty="0" sz="1100" spc="15">
                <a:solidFill>
                  <a:srgbClr val="f8fafc"/>
                </a:solidFill>
                <a:latin typeface="LOTLCT+Poppins-SemiBold"/>
                <a:cs typeface="LOTLCT+Poppins-SemiBold"/>
              </a:rPr>
              <a:t>Temperature</a:t>
            </a:r>
            <a:r>
              <a:rPr dirty="0" sz="1100">
                <a:solidFill>
                  <a:srgbClr val="f8fafc"/>
                </a:solidFill>
                <a:latin typeface="LOTLCT+Poppins-SemiBold"/>
                <a:cs typeface="LOTLCT+Poppins-SemiBold"/>
              </a:rPr>
              <a:t> </a:t>
            </a:r>
            <a:r>
              <a:rPr dirty="0" sz="1100" spc="15">
                <a:solidFill>
                  <a:srgbClr val="f8fafc"/>
                </a:solidFill>
                <a:latin typeface="LOTLCT+Poppins-SemiBold"/>
                <a:cs typeface="LOTLCT+Poppins-SemiBold"/>
              </a:rPr>
              <a:t>Recorded</a:t>
            </a:r>
          </a:p>
          <a:p>
            <a:pPr marL="0" marR="0">
              <a:lnSpc>
                <a:spcPts val="1321"/>
              </a:lnSpc>
              <a:spcBef>
                <a:spcPts val="2293"/>
              </a:spcBef>
              <a:spcAft>
                <a:spcPts val="0"/>
              </a:spcAft>
            </a:pP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≥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45.0°C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76124" y="2887656"/>
            <a:ext cx="3553539" cy="238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spc="15">
                <a:solidFill>
                  <a:srgbClr val="f8fafc"/>
                </a:solidFill>
                <a:latin typeface="LOTLCT+Poppins-SemiBold"/>
                <a:cs typeface="LOTLCT+Poppins-SemiBold"/>
              </a:rPr>
              <a:t>Atmospheric</a:t>
            </a:r>
            <a:r>
              <a:rPr dirty="0" sz="1100">
                <a:solidFill>
                  <a:srgbClr val="f8fafc"/>
                </a:solidFill>
                <a:latin typeface="LOTLCT+Poppins-SemiBold"/>
                <a:cs typeface="LOTLCT+Poppins-SemiBold"/>
              </a:rPr>
              <a:t> </a:t>
            </a:r>
            <a:r>
              <a:rPr dirty="0" sz="1100" spc="17">
                <a:solidFill>
                  <a:srgbClr val="f8fafc"/>
                </a:solidFill>
                <a:latin typeface="LOTLCT+Poppins-SemiBold"/>
                <a:cs typeface="LOTLCT+Poppins-SemiBold"/>
              </a:rPr>
              <a:t>and</a:t>
            </a:r>
            <a:r>
              <a:rPr dirty="0" sz="1100">
                <a:solidFill>
                  <a:srgbClr val="f8fafc"/>
                </a:solidFill>
                <a:latin typeface="LOTLCT+Poppins-SemiBold"/>
                <a:cs typeface="LOTLCT+Poppins-SemiBold"/>
              </a:rPr>
              <a:t> </a:t>
            </a:r>
            <a:r>
              <a:rPr dirty="0" sz="1100" spc="12">
                <a:solidFill>
                  <a:srgbClr val="f8fafc"/>
                </a:solidFill>
                <a:latin typeface="LOTLCT+Poppins-SemiBold"/>
                <a:cs typeface="LOTLCT+Poppins-SemiBold"/>
              </a:rPr>
              <a:t>Localized</a:t>
            </a:r>
            <a:r>
              <a:rPr dirty="0" sz="1100">
                <a:solidFill>
                  <a:srgbClr val="f8fafc"/>
                </a:solidFill>
                <a:latin typeface="LOTLCT+Poppins-SemiBold"/>
                <a:cs typeface="LOTLCT+Poppins-SemiBold"/>
              </a:rPr>
              <a:t> </a:t>
            </a:r>
            <a:r>
              <a:rPr dirty="0" sz="1100" spc="17">
                <a:solidFill>
                  <a:srgbClr val="f8fafc"/>
                </a:solidFill>
                <a:latin typeface="LOTLCT+Poppins-SemiBold"/>
                <a:cs typeface="LOTLCT+Poppins-SemiBold"/>
              </a:rPr>
              <a:t>Heat</a:t>
            </a:r>
            <a:r>
              <a:rPr dirty="0" sz="1100" spc="-14">
                <a:solidFill>
                  <a:srgbClr val="f8fafc"/>
                </a:solidFill>
                <a:latin typeface="LOTLCT+Poppins-SemiBold"/>
                <a:cs typeface="LOTLCT+Poppins-SemiBold"/>
              </a:rPr>
              <a:t> </a:t>
            </a:r>
            <a:r>
              <a:rPr dirty="0" sz="1100" spc="12">
                <a:solidFill>
                  <a:srgbClr val="f8fafc"/>
                </a:solidFill>
                <a:latin typeface="LOTLCT+Poppins-SemiBold"/>
                <a:cs typeface="LOTLCT+Poppins-SemiBold"/>
              </a:rPr>
              <a:t>Pattern</a:t>
            </a:r>
            <a:r>
              <a:rPr dirty="0" sz="1100">
                <a:solidFill>
                  <a:srgbClr val="f8fafc"/>
                </a:solidFill>
                <a:latin typeface="LOTLCT+Poppins-SemiBold"/>
                <a:cs typeface="LOTLCT+Poppins-SemiBold"/>
              </a:rPr>
              <a:t> </a:t>
            </a:r>
            <a:r>
              <a:rPr dirty="0" sz="1100" spc="10">
                <a:solidFill>
                  <a:srgbClr val="f8fafc"/>
                </a:solidFill>
                <a:latin typeface="LOTLCT+Poppins-SemiBold"/>
                <a:cs typeface="LOTLCT+Poppins-SemiBold"/>
              </a:rPr>
              <a:t>Profile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3100" y="3376117"/>
            <a:ext cx="1788261" cy="6735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Maharashtra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(Vidarbha)</a:t>
            </a:r>
          </a:p>
          <a:p>
            <a:pPr marL="0" marR="0">
              <a:lnSpc>
                <a:spcPts val="1340"/>
              </a:lnSpc>
              <a:spcBef>
                <a:spcPts val="2371"/>
              </a:spcBef>
              <a:spcAft>
                <a:spcPts val="0"/>
              </a:spcAft>
            </a:pP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New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Delhi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NCR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776124" y="3378936"/>
            <a:ext cx="5400903" cy="206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Oppressive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warm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nights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offering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zero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core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cooling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relief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for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populations.</a:t>
            </a:r>
          </a:p>
          <a:p>
            <a:pPr marL="0" marR="0">
              <a:lnSpc>
                <a:spcPts val="1321"/>
              </a:lnSpc>
              <a:spcBef>
                <a:spcPts val="2391"/>
              </a:spcBef>
              <a:spcAft>
                <a:spcPts val="0"/>
              </a:spcAft>
            </a:pP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Intense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concrete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thermal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trapping,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triggering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critical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grid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load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failures.</a:t>
            </a:r>
          </a:p>
          <a:p>
            <a:pPr marL="0" marR="0">
              <a:lnSpc>
                <a:spcPts val="1321"/>
              </a:lnSpc>
              <a:spcBef>
                <a:spcPts val="2341"/>
              </a:spcBef>
              <a:spcAft>
                <a:spcPts val="0"/>
              </a:spcAft>
            </a:pP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Continuous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persistent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thermal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spikes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forcing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multi-week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severe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warning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alerts.</a:t>
            </a:r>
          </a:p>
          <a:p>
            <a:pPr marL="0" marR="0">
              <a:lnSpc>
                <a:spcPts val="1321"/>
              </a:lnSpc>
              <a:spcBef>
                <a:spcPts val="2391"/>
              </a:spcBef>
              <a:spcAft>
                <a:spcPts val="0"/>
              </a:spcAft>
            </a:pP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High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heat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matched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with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warm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coastal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winds;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severe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medical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stress.</a:t>
            </a:r>
          </a:p>
          <a:p>
            <a:pPr marL="0" marR="0">
              <a:lnSpc>
                <a:spcPts val="1321"/>
              </a:lnSpc>
              <a:spcBef>
                <a:spcPts val="2391"/>
              </a:spcBef>
              <a:spcAft>
                <a:spcPts val="0"/>
              </a:spcAft>
            </a:pP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Prolonged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humid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heat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spells;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increased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threat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of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occupational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illnesses.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22949" y="3844061"/>
            <a:ext cx="1220723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41.0°C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–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44.0°C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3100" y="4306367"/>
            <a:ext cx="1991106" cy="11386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Rajasthan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(Desert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Pockets)</a:t>
            </a:r>
          </a:p>
          <a:p>
            <a:pPr marL="0" marR="0">
              <a:lnSpc>
                <a:spcPts val="1340"/>
              </a:lnSpc>
              <a:spcBef>
                <a:spcPts val="2371"/>
              </a:spcBef>
              <a:spcAft>
                <a:spcPts val="0"/>
              </a:spcAft>
            </a:pP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Odisha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(Coastal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Belt)</a:t>
            </a:r>
          </a:p>
          <a:p>
            <a:pPr marL="0" marR="0">
              <a:lnSpc>
                <a:spcPts val="1340"/>
              </a:lnSpc>
              <a:spcBef>
                <a:spcPts val="2371"/>
              </a:spcBef>
              <a:spcAft>
                <a:spcPts val="0"/>
              </a:spcAft>
            </a:pP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Telangana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&amp;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1e293b"/>
                </a:solidFill>
                <a:latin typeface="AWCUSW+Lato-Bold"/>
                <a:cs typeface="AWCUSW+Lato-Bold"/>
              </a:rPr>
              <a:t>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22949" y="4309186"/>
            <a:ext cx="1220723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40.0°C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–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45.0°C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022949" y="4774312"/>
            <a:ext cx="1881073" cy="67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Multi-week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humidity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spell</a:t>
            </a:r>
          </a:p>
          <a:p>
            <a:pPr marL="0" marR="0">
              <a:lnSpc>
                <a:spcPts val="1321"/>
              </a:lnSpc>
              <a:spcBef>
                <a:spcPts val="2391"/>
              </a:spcBef>
              <a:spcAft>
                <a:spcPts val="0"/>
              </a:spcAft>
            </a:pP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36.0°C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–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1e293b"/>
                </a:solidFill>
                <a:latin typeface="UASKTA+Lato-Regular"/>
                <a:cs typeface="UASKTA+Lato-Regular"/>
              </a:rPr>
              <a:t>40.0°C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9600" y="6494354"/>
            <a:ext cx="2141334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Wave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982325" y="6494354"/>
            <a:ext cx="607771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3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of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047749"/>
            <a:ext cx="3987260" cy="54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Institutional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Context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7725" y="2717482"/>
            <a:ext cx="1411185" cy="278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National</a:t>
            </a:r>
            <a:r>
              <a:rPr dirty="0" sz="1350" spc="-16">
                <a:solidFill>
                  <a:srgbClr val="0f172a"/>
                </a:solidFill>
                <a:latin typeface="LOTLCT+Poppins-SemiBold"/>
                <a:cs typeface="LOTLCT+Poppins-SemiBold"/>
              </a:rPr>
              <a:t> </a:t>
            </a: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Plans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81525" y="2717482"/>
            <a:ext cx="1825409" cy="278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Scientific</a:t>
            </a:r>
            <a:r>
              <a:rPr dirty="0" sz="1350" spc="-16">
                <a:solidFill>
                  <a:srgbClr val="0f172a"/>
                </a:solidFill>
                <a:latin typeface="LOTLCT+Poppins-SemiBold"/>
                <a:cs typeface="LOTLCT+Poppins-SemiBold"/>
              </a:rPr>
              <a:t> </a:t>
            </a: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Baselines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15325" y="2717482"/>
            <a:ext cx="1808091" cy="278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Urban</a:t>
            </a:r>
            <a:r>
              <a:rPr dirty="0" sz="1350" spc="-16">
                <a:solidFill>
                  <a:srgbClr val="0f172a"/>
                </a:solidFill>
                <a:latin typeface="LOTLCT+Poppins-SemiBold"/>
                <a:cs typeface="LOTLCT+Poppins-SemiBold"/>
              </a:rPr>
              <a:t> </a:t>
            </a: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Heat</a:t>
            </a:r>
            <a:r>
              <a:rPr dirty="0" sz="1350" spc="-16">
                <a:solidFill>
                  <a:srgbClr val="0f172a"/>
                </a:solidFill>
                <a:latin typeface="LOTLCT+Poppins-SemiBold"/>
                <a:cs typeface="LOTLCT+Poppins-SemiBold"/>
              </a:rPr>
              <a:t> </a:t>
            </a: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Islands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47725" y="3192321"/>
            <a:ext cx="3068408" cy="935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The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 spc="-10">
                <a:solidFill>
                  <a:srgbClr val="475569"/>
                </a:solidFill>
                <a:latin typeface="UASKTA+Lato-Regular"/>
                <a:cs typeface="UASKTA+Lato-Regular"/>
              </a:rPr>
              <a:t>NDMA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local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state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frameworks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translate</a:t>
            </a:r>
          </a:p>
          <a:p>
            <a:pPr marL="0" marR="0">
              <a:lnSpc>
                <a:spcPts val="1196"/>
              </a:lnSpc>
              <a:spcBef>
                <a:spcPts val="76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IMD's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raw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temperature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indicators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into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color-</a:t>
            </a:r>
          </a:p>
          <a:p>
            <a:pPr marL="0" marR="0">
              <a:lnSpc>
                <a:spcPts val="1196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coded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response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triggers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(Yellow/Orange/Red)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to</a:t>
            </a:r>
          </a:p>
          <a:p>
            <a:pPr marL="0" marR="0">
              <a:lnSpc>
                <a:spcPts val="1196"/>
              </a:lnSpc>
              <a:spcBef>
                <a:spcPts val="76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mobilize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healthcare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municipal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divisions.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81525" y="3192321"/>
            <a:ext cx="3116035" cy="687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IPCC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climate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assessments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prove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that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rising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South</a:t>
            </a:r>
          </a:p>
          <a:p>
            <a:pPr marL="0" marR="0">
              <a:lnSpc>
                <a:spcPts val="1196"/>
              </a:lnSpc>
              <a:spcBef>
                <a:spcPts val="76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Asian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carbon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indexes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make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thermal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anomalies</a:t>
            </a:r>
          </a:p>
          <a:p>
            <a:pPr marL="0" marR="0">
              <a:lnSpc>
                <a:spcPts val="1196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more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frequent,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longer,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more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severe,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15325" y="3192321"/>
            <a:ext cx="3152342" cy="935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Modern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architectural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layouts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heavily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worsen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1196"/>
              </a:lnSpc>
              <a:spcBef>
                <a:spcPts val="76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stress.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Asphalt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surfaces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high-density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concrete</a:t>
            </a:r>
          </a:p>
          <a:p>
            <a:pPr marL="0" marR="0">
              <a:lnSpc>
                <a:spcPts val="1196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trap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heavy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solar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radiation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by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day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slowly</a:t>
            </a:r>
          </a:p>
          <a:p>
            <a:pPr marL="0" marR="0">
              <a:lnSpc>
                <a:spcPts val="1196"/>
              </a:lnSpc>
              <a:spcBef>
                <a:spcPts val="76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discharge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it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overnight.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81525" y="3938014"/>
            <a:ext cx="3182713" cy="190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highlighting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the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immediate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need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for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regional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plans.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09600" y="6494354"/>
            <a:ext cx="2141334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Wave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982325" y="6494354"/>
            <a:ext cx="607771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4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of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925240"/>
            <a:ext cx="4394453" cy="54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Study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Focus: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Delhi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NCR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9600" y="2586275"/>
            <a:ext cx="4617644" cy="358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e3a8a"/>
                </a:solidFill>
                <a:latin typeface="FUHLFW+Poppins-Bold"/>
                <a:cs typeface="FUHLFW+Poppins-Bold"/>
              </a:rPr>
              <a:t>Target</a:t>
            </a:r>
            <a:r>
              <a:rPr dirty="0" sz="180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800" b="1">
                <a:solidFill>
                  <a:srgbClr val="1e3a8a"/>
                </a:solidFill>
                <a:latin typeface="FUHLFW+Poppins-Bold"/>
                <a:cs typeface="FUHLFW+Poppins-Bold"/>
              </a:rPr>
              <a:t>Area</a:t>
            </a:r>
            <a:r>
              <a:rPr dirty="0" sz="180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800" b="1">
                <a:solidFill>
                  <a:srgbClr val="1e3a8a"/>
                </a:solidFill>
                <a:latin typeface="FUHLFW+Poppins-Bold"/>
                <a:cs typeface="FUHLFW+Poppins-Bold"/>
              </a:rPr>
              <a:t>Vulnerability</a:t>
            </a:r>
            <a:r>
              <a:rPr dirty="0" sz="180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800" b="1">
                <a:solidFill>
                  <a:srgbClr val="1e3a8a"/>
                </a:solidFill>
                <a:latin typeface="FUHLFW+Poppins-Bold"/>
                <a:cs typeface="FUHLFW+Poppins-Bold"/>
              </a:rPr>
              <a:t>Assessment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9600" y="3207030"/>
            <a:ext cx="5014874" cy="498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New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Delhi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NCR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was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chosen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the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primary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study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zone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due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to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its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extreme</a:t>
            </a:r>
          </a:p>
          <a:p>
            <a:pPr marL="0" marR="0">
              <a:lnSpc>
                <a:spcPts val="1321"/>
              </a:lnSpc>
              <a:spcBef>
                <a:spcPts val="982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continental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climate.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Peak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temperatures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hovering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between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41°C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44°C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9600" y="3792246"/>
            <a:ext cx="2443581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trigger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critical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physiological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stress.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9600" y="4052672"/>
            <a:ext cx="4797551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High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concrete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concentrations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dense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population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grid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multiply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the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09600" y="4345280"/>
            <a:ext cx="4993995" cy="10837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Urban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Heat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Island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(UHI)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effect.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Millions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of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high-risk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citizens—such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as</a:t>
            </a:r>
          </a:p>
          <a:p>
            <a:pPr marL="0" marR="0">
              <a:lnSpc>
                <a:spcPts val="1321"/>
              </a:lnSpc>
              <a:spcBef>
                <a:spcPts val="982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daily-wage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workers,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street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vendors,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slum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dwellers—suffer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immediate</a:t>
            </a:r>
          </a:p>
          <a:p>
            <a:pPr marL="0" marR="0">
              <a:lnSpc>
                <a:spcPts val="1321"/>
              </a:lnSpc>
              <a:spcBef>
                <a:spcPts val="982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exposure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without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cooling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resources,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demanding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structured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protection</a:t>
            </a:r>
          </a:p>
          <a:p>
            <a:pPr marL="0" marR="0">
              <a:lnSpc>
                <a:spcPts val="1321"/>
              </a:lnSpc>
              <a:spcBef>
                <a:spcPts val="982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frameworks.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9600" y="6268611"/>
            <a:ext cx="3088310" cy="1639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Heat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Wave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5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of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047749"/>
            <a:ext cx="4441507" cy="54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Research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Methodology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3925" y="3367206"/>
            <a:ext cx="2725464" cy="331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1e3a8a"/>
                </a:solidFill>
                <a:latin typeface="FUHLFW+Poppins-Bold"/>
                <a:cs typeface="FUHLFW+Poppins-Bold"/>
              </a:rPr>
              <a:t>Mixed-Method</a:t>
            </a:r>
            <a:r>
              <a:rPr dirty="0" sz="16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650" b="1">
                <a:solidFill>
                  <a:srgbClr val="1e3a8a"/>
                </a:solidFill>
                <a:latin typeface="FUHLFW+Poppins-Bold"/>
                <a:cs typeface="FUHLFW+Poppins-Bold"/>
              </a:rPr>
              <a:t>Strategy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00825" y="3367206"/>
            <a:ext cx="2848679" cy="331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1e3a8a"/>
                </a:solidFill>
                <a:latin typeface="FUHLFW+Poppins-Bold"/>
                <a:cs typeface="FUHLFW+Poppins-Bold"/>
              </a:rPr>
              <a:t>High-Exposure</a:t>
            </a:r>
            <a:r>
              <a:rPr dirty="0" sz="16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650" b="1">
                <a:solidFill>
                  <a:srgbClr val="1e3a8a"/>
                </a:solidFill>
                <a:latin typeface="FUHLFW+Poppins-Bold"/>
                <a:cs typeface="FUHLFW+Poppins-Bold"/>
              </a:rPr>
              <a:t>Sampling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925" y="3947004"/>
            <a:ext cx="4395825" cy="10837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The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research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combines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primary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field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inputs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(thermometer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data,</a:t>
            </a:r>
          </a:p>
          <a:p>
            <a:pPr marL="0" marR="0">
              <a:lnSpc>
                <a:spcPts val="1321"/>
              </a:lnSpc>
              <a:spcBef>
                <a:spcPts val="982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handheld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GPS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mapping,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structured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interviews,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focus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group</a:t>
            </a:r>
          </a:p>
          <a:p>
            <a:pPr marL="0" marR="0">
              <a:lnSpc>
                <a:spcPts val="1321"/>
              </a:lnSpc>
              <a:spcBef>
                <a:spcPts val="982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discussions)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with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secondary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municipal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databases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(IMD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historical</a:t>
            </a:r>
          </a:p>
          <a:p>
            <a:pPr marL="0" marR="0">
              <a:lnSpc>
                <a:spcPts val="1321"/>
              </a:lnSpc>
              <a:spcBef>
                <a:spcPts val="982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temperature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records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municipal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health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logs).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00825" y="3947004"/>
            <a:ext cx="4668470" cy="10837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Targeted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the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unorganized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unshaded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labor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workforce.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Tracked</a:t>
            </a:r>
          </a:p>
          <a:p>
            <a:pPr marL="0" marR="0">
              <a:lnSpc>
                <a:spcPts val="1321"/>
              </a:lnSpc>
              <a:spcBef>
                <a:spcPts val="982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physiological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heat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strain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among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outdoor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traffic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police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units,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street</a:t>
            </a:r>
          </a:p>
          <a:p>
            <a:pPr marL="0" marR="0">
              <a:lnSpc>
                <a:spcPts val="1321"/>
              </a:lnSpc>
              <a:spcBef>
                <a:spcPts val="982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vendors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with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perishable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stock,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construction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workers,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vulnerable</a:t>
            </a:r>
          </a:p>
          <a:p>
            <a:pPr marL="0" marR="0">
              <a:lnSpc>
                <a:spcPts val="1321"/>
              </a:lnSpc>
              <a:spcBef>
                <a:spcPts val="982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child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demographics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in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congested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slums.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09600" y="6494354"/>
            <a:ext cx="2141334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Wave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982325" y="6494354"/>
            <a:ext cx="607771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6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of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047749"/>
            <a:ext cx="5109667" cy="54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Emergency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Field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Response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6300" y="3249890"/>
            <a:ext cx="5090078" cy="2087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Decentralized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Warnings:</a:t>
            </a:r>
            <a:r>
              <a:rPr dirty="0" sz="1200" spc="-69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Immediate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deployment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of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multi-channel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warning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300" y="3527030"/>
            <a:ext cx="4411675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networks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(SMS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alerts,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physical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vernacular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flyers,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radio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bulletins).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300" y="3878541"/>
            <a:ext cx="5021787" cy="2087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Public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Cool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Infrastructure:</a:t>
            </a:r>
            <a:r>
              <a:rPr dirty="0" sz="1200" spc="15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Swift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setup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of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ventilated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public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transit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cooling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6300" y="4155680"/>
            <a:ext cx="2168499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shelters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hydration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booths.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6300" y="4507191"/>
            <a:ext cx="5157126" cy="2087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Medical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Support: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Pre-allocating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dedicated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heat-stroke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beds,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clinical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cooling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6300" y="4784330"/>
            <a:ext cx="4135068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supplies,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fast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emergency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response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ambulance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networks.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9600" y="6494354"/>
            <a:ext cx="2141334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Wave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982325" y="6494354"/>
            <a:ext cx="607771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7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of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047749"/>
            <a:ext cx="4530547" cy="54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Post-Disaster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Recovery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81883" y="2752724"/>
            <a:ext cx="1225296" cy="1504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50"/>
              </a:lnSpc>
              <a:spcBef>
                <a:spcPts val="0"/>
              </a:spcBef>
              <a:spcAft>
                <a:spcPts val="0"/>
              </a:spcAft>
            </a:pPr>
            <a:r>
              <a:rPr dirty="0" sz="8250" b="1">
                <a:solidFill>
                  <a:srgbClr val="ea580c"/>
                </a:solidFill>
                <a:latin typeface="FUHLFW+Poppins-Bold"/>
                <a:cs typeface="FUHLFW+Poppins-Bold"/>
              </a:rPr>
              <a:t>18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41589" y="3262371"/>
            <a:ext cx="4603908" cy="3848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Stabilizing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Livelihoods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&amp;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950" b="1">
                <a:solidFill>
                  <a:srgbClr val="1e3a8a"/>
                </a:solidFill>
                <a:latin typeface="FUHLFW+Poppins-Bold"/>
                <a:cs typeface="FUHLFW+Poppins-Bold"/>
              </a:rPr>
              <a:t>Resources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41589" y="3936670"/>
            <a:ext cx="6239733" cy="12144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86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Recovery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goes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beyond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health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tracking.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It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requires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restoring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agricultural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networks,</a:t>
            </a:r>
          </a:p>
          <a:p>
            <a:pPr marL="0" marR="0">
              <a:lnSpc>
                <a:spcPts val="1486"/>
              </a:lnSpc>
              <a:spcBef>
                <a:spcPts val="1105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managing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over-extracted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municipal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water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grids,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recovering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local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businesses.</a:t>
            </a:r>
          </a:p>
          <a:p>
            <a:pPr marL="0" marR="0">
              <a:lnSpc>
                <a:spcPts val="1486"/>
              </a:lnSpc>
              <a:spcBef>
                <a:spcPts val="1105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This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indicator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highlights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the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uncompensated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wage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gap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for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informal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workers,</a:t>
            </a:r>
          </a:p>
          <a:p>
            <a:pPr marL="0" marR="0">
              <a:lnSpc>
                <a:spcPts val="1486"/>
              </a:lnSpc>
              <a:spcBef>
                <a:spcPts val="1105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emphasizing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the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need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for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targeted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state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compensation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350">
                <a:solidFill>
                  <a:srgbClr val="475569"/>
                </a:solidFill>
                <a:latin typeface="UASKTA+Lato-Regular"/>
                <a:cs typeface="UASKTA+Lato-Regular"/>
              </a:rPr>
              <a:t>plans.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58726" y="4010024"/>
            <a:ext cx="2872359" cy="1504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50"/>
              </a:lnSpc>
              <a:spcBef>
                <a:spcPts val="0"/>
              </a:spcBef>
              <a:spcAft>
                <a:spcPts val="0"/>
              </a:spcAft>
            </a:pPr>
            <a:r>
              <a:rPr dirty="0" sz="8250" b="1">
                <a:solidFill>
                  <a:srgbClr val="ea580c"/>
                </a:solidFill>
                <a:latin typeface="FUHLFW+Poppins-Bold"/>
                <a:cs typeface="FUHLFW+Poppins-Bold"/>
              </a:rPr>
              <a:t>Days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07429" y="5109209"/>
            <a:ext cx="1996944" cy="2296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8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f172a"/>
                </a:solidFill>
                <a:latin typeface="AWCUSW+Lato-Bold"/>
                <a:cs typeface="AWCUSW+Lato-Bold"/>
              </a:rPr>
              <a:t>AVERAGE</a:t>
            </a:r>
            <a:r>
              <a:rPr dirty="0" sz="1350" b="1">
                <a:solidFill>
                  <a:srgbClr val="0f172a"/>
                </a:solidFill>
                <a:latin typeface="AWCUSW+Lato-Bold"/>
                <a:cs typeface="AWCUSW+Lato-Bold"/>
              </a:rPr>
              <a:t> </a:t>
            </a:r>
            <a:r>
              <a:rPr dirty="0" sz="1350" b="1">
                <a:solidFill>
                  <a:srgbClr val="0f172a"/>
                </a:solidFill>
                <a:latin typeface="AWCUSW+Lato-Bold"/>
                <a:cs typeface="AWCUSW+Lato-Bold"/>
              </a:rPr>
              <a:t>LABOR</a:t>
            </a:r>
            <a:r>
              <a:rPr dirty="0" sz="1350" b="1">
                <a:solidFill>
                  <a:srgbClr val="0f172a"/>
                </a:solidFill>
                <a:latin typeface="AWCUSW+Lato-Bold"/>
                <a:cs typeface="AWCUSW+Lato-Bold"/>
              </a:rPr>
              <a:t> </a:t>
            </a:r>
            <a:r>
              <a:rPr dirty="0" sz="1350" b="1">
                <a:solidFill>
                  <a:srgbClr val="0f172a"/>
                </a:solidFill>
                <a:latin typeface="AWCUSW+Lato-Bold"/>
                <a:cs typeface="AWCUSW+Lato-Bold"/>
              </a:rPr>
              <a:t>LOSS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9600" y="6494354"/>
            <a:ext cx="2141334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Wave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982325" y="6494354"/>
            <a:ext cx="607771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8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of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047749"/>
            <a:ext cx="4513535" cy="54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Future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Heat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Challenges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13844" y="3343453"/>
            <a:ext cx="1465364" cy="278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Water</a:t>
            </a: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Scarcity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64086" y="3343453"/>
            <a:ext cx="1375181" cy="278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Animal</a:t>
            </a: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Stress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94732" y="3762115"/>
            <a:ext cx="2502975" cy="3955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Deepening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groundwater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tables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from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rapid</a:t>
            </a:r>
          </a:p>
          <a:p>
            <a:pPr marL="61912" marR="0">
              <a:lnSpc>
                <a:spcPts val="1114"/>
              </a:lnSpc>
              <a:spcBef>
                <a:spcPts val="586"/>
              </a:spcBef>
              <a:spcAft>
                <a:spcPts val="0"/>
              </a:spcAft>
            </a:pP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reservoir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evaporation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high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demand.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85435" y="3762115"/>
            <a:ext cx="2334352" cy="3955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Widespread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herder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losses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due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to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cattle</a:t>
            </a:r>
          </a:p>
          <a:p>
            <a:pPr marL="209550" marR="0">
              <a:lnSpc>
                <a:spcPts val="1114"/>
              </a:lnSpc>
              <a:spcBef>
                <a:spcPts val="586"/>
              </a:spcBef>
              <a:spcAft>
                <a:spcPts val="0"/>
              </a:spcAft>
            </a:pP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dehydration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high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mortality.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95895" y="4608194"/>
            <a:ext cx="1195330" cy="278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Grid</a:t>
            </a: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Shocks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96110" y="4608194"/>
            <a:ext cx="1205274" cy="278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Labor</a:t>
            </a: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350" b="1">
                <a:solidFill>
                  <a:srgbClr val="1e3a8a"/>
                </a:solidFill>
                <a:latin typeface="FUHLFW+Poppins-Bold"/>
                <a:cs typeface="FUHLFW+Poppins-Bold"/>
              </a:rPr>
              <a:t>Drops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37096" y="5026856"/>
            <a:ext cx="2311860" cy="1796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Soaring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power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grids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driven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by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extreme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83336" y="5026856"/>
            <a:ext cx="2428816" cy="3955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Systemic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losses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in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outdoor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physical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labor</a:t>
            </a:r>
          </a:p>
          <a:p>
            <a:pPr marL="242093" marR="0">
              <a:lnSpc>
                <a:spcPts val="1114"/>
              </a:lnSpc>
              <a:spcBef>
                <a:spcPts val="586"/>
              </a:spcBef>
              <a:spcAft>
                <a:spcPts val="0"/>
              </a:spcAft>
            </a:pP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hours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during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critical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peak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hours.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14858" y="5242805"/>
            <a:ext cx="2556955" cy="1796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cooling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demands,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causing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power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000">
                <a:solidFill>
                  <a:srgbClr val="475569"/>
                </a:solidFill>
                <a:latin typeface="UASKTA+Lato-Regular"/>
                <a:cs typeface="UASKTA+Lato-Regular"/>
              </a:rPr>
              <a:t>overloads.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9600" y="6494354"/>
            <a:ext cx="2141334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Wave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982325" y="6494354"/>
            <a:ext cx="607771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9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of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047749"/>
            <a:ext cx="4598955" cy="54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Technological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Solutions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7725" y="2717482"/>
            <a:ext cx="1257052" cy="278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GIS</a:t>
            </a:r>
            <a:r>
              <a:rPr dirty="0" sz="1350" spc="-16">
                <a:solidFill>
                  <a:srgbClr val="0f172a"/>
                </a:solidFill>
                <a:latin typeface="LOTLCT+Poppins-SemiBold"/>
                <a:cs typeface="LOTLCT+Poppins-SemiBold"/>
              </a:rPr>
              <a:t> </a:t>
            </a: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Mapping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81525" y="2717482"/>
            <a:ext cx="1232706" cy="278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Predictive</a:t>
            </a:r>
            <a:r>
              <a:rPr dirty="0" sz="1350" spc="-16">
                <a:solidFill>
                  <a:srgbClr val="0f172a"/>
                </a:solidFill>
                <a:latin typeface="LOTLCT+Poppins-SemiBold"/>
                <a:cs typeface="LOTLCT+Poppins-SemiBold"/>
              </a:rPr>
              <a:t> </a:t>
            </a: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AI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15325" y="2717482"/>
            <a:ext cx="985304" cy="278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Smart</a:t>
            </a:r>
            <a:r>
              <a:rPr dirty="0" sz="1350" spc="-16">
                <a:solidFill>
                  <a:srgbClr val="0f172a"/>
                </a:solidFill>
                <a:latin typeface="LOTLCT+Poppins-SemiBold"/>
                <a:cs typeface="LOTLCT+Poppins-SemiBold"/>
              </a:rPr>
              <a:t> </a:t>
            </a:r>
            <a:r>
              <a:rPr dirty="0" sz="1350">
                <a:solidFill>
                  <a:srgbClr val="0f172a"/>
                </a:solidFill>
                <a:latin typeface="LOTLCT+Poppins-SemiBold"/>
                <a:cs typeface="LOTLCT+Poppins-SemiBold"/>
              </a:rPr>
              <a:t>IoT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47725" y="3192321"/>
            <a:ext cx="2780852" cy="687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Using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satellite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data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to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identify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map</a:t>
            </a:r>
          </a:p>
          <a:p>
            <a:pPr marL="0" marR="0">
              <a:lnSpc>
                <a:spcPts val="1196"/>
              </a:lnSpc>
              <a:spcBef>
                <a:spcPts val="76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microclimatic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thermal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pockets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concrete</a:t>
            </a:r>
          </a:p>
          <a:p>
            <a:pPr marL="0" marR="0">
              <a:lnSpc>
                <a:spcPts val="1196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hotspots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from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space.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81525" y="3192321"/>
            <a:ext cx="2833034" cy="687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Using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machine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learning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models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to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synthesize</a:t>
            </a:r>
          </a:p>
          <a:p>
            <a:pPr marL="0" marR="0">
              <a:lnSpc>
                <a:spcPts val="1196"/>
              </a:lnSpc>
              <a:spcBef>
                <a:spcPts val="76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historical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climate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trends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issue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localized</a:t>
            </a:r>
          </a:p>
          <a:p>
            <a:pPr marL="0" marR="0">
              <a:lnSpc>
                <a:spcPts val="1196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warnings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72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hours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in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advance.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15325" y="3192321"/>
            <a:ext cx="2774226" cy="687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Installing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automated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weather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stations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and</a:t>
            </a:r>
          </a:p>
          <a:p>
            <a:pPr marL="0" marR="0">
              <a:lnSpc>
                <a:spcPts val="1196"/>
              </a:lnSpc>
              <a:spcBef>
                <a:spcPts val="76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connected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sensors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that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log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changing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indices</a:t>
            </a:r>
          </a:p>
          <a:p>
            <a:pPr marL="0" marR="0">
              <a:lnSpc>
                <a:spcPts val="1196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without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manual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100">
                <a:solidFill>
                  <a:srgbClr val="475569"/>
                </a:solidFill>
                <a:latin typeface="UASKTA+Lato-Regular"/>
                <a:cs typeface="UASKTA+Lato-Regular"/>
              </a:rPr>
              <a:t>inputs.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9600" y="6494354"/>
            <a:ext cx="2141334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Wave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915650" y="6494354"/>
            <a:ext cx="674065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10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of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1e3a8a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047749"/>
            <a:ext cx="4300708" cy="54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Findings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&amp;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Action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Plan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6300" y="3249890"/>
            <a:ext cx="4860614" cy="2087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Cool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Roof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Mandates:</a:t>
            </a:r>
            <a:r>
              <a:rPr dirty="0" sz="1200" spc="28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Promoting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high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solar-reflective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index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coatings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300" y="3527030"/>
            <a:ext cx="3857243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rooftops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to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lower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indoor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heat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absorption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by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up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to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4.5°C.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300" y="3878541"/>
            <a:ext cx="4853927" cy="2087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Labor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Realignment:</a:t>
            </a:r>
            <a:r>
              <a:rPr dirty="0" sz="1200" spc="18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Implementing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statutory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work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bans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during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extreme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6300" y="4155680"/>
            <a:ext cx="4222546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heat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peaks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to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protect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physical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laborers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from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severe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exposure.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6300" y="4507191"/>
            <a:ext cx="5007448" cy="2087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Miyawaki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Urban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 b="1">
                <a:solidFill>
                  <a:srgbClr val="475569"/>
                </a:solidFill>
                <a:latin typeface="AWCUSW+Lato-Bold"/>
                <a:cs typeface="AWCUSW+Lato-Bold"/>
              </a:rPr>
              <a:t>Forests:</a:t>
            </a:r>
            <a:r>
              <a:rPr dirty="0" sz="1200" spc="-43" b="1">
                <a:solidFill>
                  <a:srgbClr val="475569"/>
                </a:solidFill>
                <a:latin typeface="AWCUSW+Lato-Bold"/>
                <a:cs typeface="AWCUSW+Lato-Bold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Planting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dense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tree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buffers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near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transport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links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6300" y="4784330"/>
            <a:ext cx="3504742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to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lower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ambient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concrete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temperatures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naturally.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9600" y="6494354"/>
            <a:ext cx="2141334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Wave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915650" y="6494354"/>
            <a:ext cx="674065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11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of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64748b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57199"/>
            <a:ext cx="2929642" cy="54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Image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 </a:t>
            </a:r>
            <a:r>
              <a:rPr dirty="0" sz="2850" b="1">
                <a:solidFill>
                  <a:srgbClr val="0f172a"/>
                </a:solidFill>
                <a:latin typeface="FUHLFW+Poppins-Bold"/>
                <a:cs typeface="FUHLFW+Poppins-Bold"/>
              </a:rPr>
              <a:t>Sources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04975" y="2788913"/>
            <a:ext cx="10039577" cy="1744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dirty="0" sz="950" spc="11">
                <a:solidFill>
                  <a:srgbClr val="475569"/>
                </a:solidFill>
                <a:latin typeface="UASKTA+Lato-Regular"/>
                <a:cs typeface="UASKTA+Lato-Regular"/>
              </a:rPr>
              <a:t>https://cdn.prod.website-files.com/667bf07b40925e1d532db15e/66869cc7ffa82381de55886f_World-First-in-high-resolution-satellite-thermal-imaging-defines-new-era-of-climate-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04975" y="3011721"/>
            <a:ext cx="941536" cy="1744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dirty="0" sz="950" spc="10">
                <a:solidFill>
                  <a:srgbClr val="475569"/>
                </a:solidFill>
                <a:latin typeface="UASKTA+Lato-Regular"/>
                <a:cs typeface="UASKTA+Lato-Regular"/>
              </a:rPr>
              <a:t>monitoring.jpg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04975" y="3224135"/>
            <a:ext cx="2075022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Source: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f46e5"/>
                </a:solidFill>
                <a:latin typeface="UASKTA+Lato-Regular"/>
                <a:cs typeface="UASKTA+Lato-Regular"/>
              </a:rPr>
              <a:t>www.satellitevu.com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04975" y="3739031"/>
            <a:ext cx="2902429" cy="1744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dirty="0" sz="950" spc="11">
                <a:solidFill>
                  <a:srgbClr val="475569"/>
                </a:solidFill>
                <a:latin typeface="UASKTA+Lato-Regular"/>
                <a:cs typeface="UASKTA+Lato-Regular"/>
              </a:rPr>
              <a:t>https://i.ytimg.com/vi/bcJmfVPm4xE/sddefault.jpg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4975" y="3988516"/>
            <a:ext cx="1932528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Source: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f46e5"/>
                </a:solidFill>
                <a:latin typeface="UASKTA+Lato-Regular"/>
                <a:cs typeface="UASKTA+Lato-Regular"/>
              </a:rPr>
              <a:t>www.youtube.com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4975" y="4510556"/>
            <a:ext cx="3511401" cy="1744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dirty="0" sz="950" spc="12">
                <a:solidFill>
                  <a:srgbClr val="475569"/>
                </a:solidFill>
                <a:latin typeface="UASKTA+Lato-Regular"/>
                <a:cs typeface="UASKTA+Lato-Regular"/>
              </a:rPr>
              <a:t>https://miro.medium.com/1*mOE2a_A3qj5qZJjHg2sONw.png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04975" y="4760041"/>
            <a:ext cx="1534917" cy="205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Source:</a:t>
            </a:r>
            <a:r>
              <a:rPr dirty="0" sz="1200">
                <a:solidFill>
                  <a:srgbClr val="475569"/>
                </a:solidFill>
                <a:latin typeface="UASKTA+Lato-Regular"/>
                <a:cs typeface="UASKTA+Lato-Regular"/>
              </a:rPr>
              <a:t> </a:t>
            </a:r>
            <a:r>
              <a:rPr dirty="0" sz="1200">
                <a:solidFill>
                  <a:srgbClr val="4f46e5"/>
                </a:solidFill>
                <a:latin typeface="UASKTA+Lato-Regular"/>
                <a:cs typeface="UASKTA+Lato-Regular"/>
              </a:rPr>
              <a:t>medium.com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9600" y="471487"/>
            <a:ext cx="1270914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b="1">
                <a:solidFill>
                  <a:srgbClr val="f8fafc"/>
                </a:solidFill>
                <a:latin typeface="FUHLFW+Poppins-Bold"/>
                <a:cs typeface="FUHLFW+Poppins-Bold"/>
              </a:rPr>
              <a:t>INDIA</a:t>
            </a:r>
            <a:r>
              <a:rPr dirty="0" sz="105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SPACE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 </a:t>
            </a:r>
            <a:r>
              <a:rPr dirty="0" sz="1050" b="1">
                <a:solidFill>
                  <a:srgbClr val="ea580c"/>
                </a:solidFill>
                <a:latin typeface="FUHLFW+Poppins-Bold"/>
                <a:cs typeface="FUHLFW+Poppins-Bold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4793" y="2430780"/>
            <a:ext cx="3876294" cy="9982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400" b="1">
                <a:solidFill>
                  <a:srgbClr val="f8fafc"/>
                </a:solidFill>
                <a:latin typeface="FUHLFW+Poppins-Bold"/>
                <a:cs typeface="FUHLFW+Poppins-Bold"/>
              </a:rPr>
              <a:t>Thank</a:t>
            </a:r>
            <a:r>
              <a:rPr dirty="0" sz="5400" b="1">
                <a:solidFill>
                  <a:srgbClr val="f8fafc"/>
                </a:solidFill>
                <a:latin typeface="FUHLFW+Poppins-Bold"/>
                <a:cs typeface="FUHLFW+Poppins-Bold"/>
              </a:rPr>
              <a:t> </a:t>
            </a:r>
            <a:r>
              <a:rPr dirty="0" sz="5400" b="1">
                <a:solidFill>
                  <a:srgbClr val="f8fafc"/>
                </a:solidFill>
                <a:latin typeface="FUHLFW+Poppins-Bold"/>
                <a:cs typeface="FUHLFW+Poppins-Bold"/>
              </a:rPr>
              <a:t>You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4023" y="3843223"/>
            <a:ext cx="4036771" cy="2897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81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cbd5e1"/>
                </a:solidFill>
                <a:latin typeface="UASKTA+Lato-Regular"/>
                <a:cs typeface="UASKTA+Lato-Regular"/>
              </a:rPr>
              <a:t>Preparing</a:t>
            </a:r>
            <a:r>
              <a:rPr dirty="0" sz="18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800">
                <a:solidFill>
                  <a:srgbClr val="cbd5e1"/>
                </a:solidFill>
                <a:latin typeface="UASKTA+Lato-Regular"/>
                <a:cs typeface="UASKTA+Lato-Regular"/>
              </a:rPr>
              <a:t>for</a:t>
            </a:r>
            <a:r>
              <a:rPr dirty="0" sz="18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800">
                <a:solidFill>
                  <a:srgbClr val="cbd5e1"/>
                </a:solidFill>
                <a:latin typeface="UASKTA+Lato-Regular"/>
                <a:cs typeface="UASKTA+Lato-Regular"/>
              </a:rPr>
              <a:t>a</a:t>
            </a:r>
            <a:r>
              <a:rPr dirty="0" sz="18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800">
                <a:solidFill>
                  <a:srgbClr val="cbd5e1"/>
                </a:solidFill>
                <a:latin typeface="UASKTA+Lato-Regular"/>
                <a:cs typeface="UASKTA+Lato-Regular"/>
              </a:rPr>
              <a:t>climate-resilient</a:t>
            </a:r>
            <a:r>
              <a:rPr dirty="0" sz="1800">
                <a:solidFill>
                  <a:srgbClr val="cbd5e1"/>
                </a:solidFill>
                <a:latin typeface="UASKTA+Lato-Regular"/>
                <a:cs typeface="UASKTA+Lato-Regular"/>
              </a:rPr>
              <a:t> </a:t>
            </a:r>
            <a:r>
              <a:rPr dirty="0" sz="1800">
                <a:solidFill>
                  <a:srgbClr val="cbd5e1"/>
                </a:solidFill>
                <a:latin typeface="UASKTA+Lato-Regular"/>
                <a:cs typeface="UASKTA+Lato-Regular"/>
              </a:rPr>
              <a:t>future.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9600" y="6494354"/>
            <a:ext cx="2141334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Disasters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Management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Project: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on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Heat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Wave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915650" y="6494354"/>
            <a:ext cx="674065" cy="301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Slide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12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 </a:t>
            </a: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of</a:t>
            </a:r>
          </a:p>
          <a:p>
            <a:pPr marL="0" marR="0">
              <a:lnSpc>
                <a:spcPts val="990"/>
              </a:lnSpc>
              <a:spcBef>
                <a:spcPts val="89"/>
              </a:spcBef>
              <a:spcAft>
                <a:spcPts val="0"/>
              </a:spcAft>
            </a:pPr>
            <a:r>
              <a:rPr dirty="0" sz="900">
                <a:solidFill>
                  <a:srgbClr val="94a3b8"/>
                </a:solidFill>
                <a:latin typeface="UASKTA+Lato-Regular"/>
                <a:cs typeface="UASKTA+Lato-Regular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Administrator</dc:creator>
  <cp:lastModifiedBy>Administrator</cp:lastModifiedBy>
  <cp:revision>1</cp:revision>
  <dcterms:modified xsi:type="dcterms:W3CDTF">2026-08-03T08:33:28-05:00</dcterms:modified>
</cp:coreProperties>
</file>