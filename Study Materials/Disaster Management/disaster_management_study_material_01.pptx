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21"/>
  </p:notesMasterIdLst>
  <p:sldIdLst>
    <p:sldId id="256" r:id="rId2"/>
    <p:sldId id="265" r:id="rId3"/>
    <p:sldId id="264" r:id="rId4"/>
    <p:sldId id="261" r:id="rId5"/>
    <p:sldId id="262" r:id="rId6"/>
    <p:sldId id="263" r:id="rId7"/>
    <p:sldId id="266" r:id="rId8"/>
    <p:sldId id="268" r:id="rId9"/>
    <p:sldId id="267" r:id="rId10"/>
    <p:sldId id="269" r:id="rId11"/>
    <p:sldId id="270" r:id="rId12"/>
    <p:sldId id="271" r:id="rId13"/>
    <p:sldId id="272" r:id="rId14"/>
    <p:sldId id="273" r:id="rId15"/>
    <p:sldId id="274" r:id="rId16"/>
    <p:sldId id="275" r:id="rId17"/>
    <p:sldId id="276" r:id="rId18"/>
    <p:sldId id="277" r:id="rId19"/>
    <p:sldId id="260" r:id="rId20"/>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99" d="100"/>
          <a:sy n="99" d="100"/>
        </p:scale>
        <p:origin x="10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53" name="Rectangle 2"/>
          <p:cNvSpPr>
            <a:spLocks noGrp="1" noChangeArrowheads="1"/>
          </p:cNvSpPr>
          <p:nvPr>
            <p:ph type="hdr" sz="quarter"/>
          </p:nvPr>
        </p:nvSpPr>
        <p:spPr bwMode="auto">
          <a:xfrm>
            <a:off x="2" y="1"/>
            <a:ext cx="3049513" cy="556651"/>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54" name="Rectangle 3"/>
          <p:cNvSpPr>
            <a:spLocks noGrp="1" noChangeArrowheads="1"/>
          </p:cNvSpPr>
          <p:nvPr>
            <p:ph type="dt" idx="1"/>
          </p:nvPr>
        </p:nvSpPr>
        <p:spPr bwMode="auto">
          <a:xfrm>
            <a:off x="3985768" y="1"/>
            <a:ext cx="3049513" cy="556651"/>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55" name="Rectangle 4"/>
          <p:cNvSpPr>
            <a:spLocks noGrp="1" noRot="1" noChangeAspect="1" noChangeArrowheads="1" noTextEdit="1"/>
          </p:cNvSpPr>
          <p:nvPr>
            <p:ph type="sldImg" idx="2"/>
          </p:nvPr>
        </p:nvSpPr>
        <p:spPr bwMode="auto">
          <a:xfrm>
            <a:off x="-184150" y="831850"/>
            <a:ext cx="7405688" cy="4167188"/>
          </a:xfrm>
          <a:prstGeom prst="rect">
            <a:avLst/>
          </a:prstGeom>
          <a:noFill/>
          <a:ln w="9525">
            <a:solidFill>
              <a:srgbClr val="000000"/>
            </a:solidFill>
            <a:miter lim="800000"/>
            <a:headEnd/>
            <a:tailEnd/>
          </a:ln>
          <a:effectLst/>
        </p:spPr>
      </p:sp>
      <p:sp>
        <p:nvSpPr>
          <p:cNvPr id="1048656" name="Rectangle 5"/>
          <p:cNvSpPr>
            <a:spLocks noGrp="1" noChangeArrowheads="1"/>
          </p:cNvSpPr>
          <p:nvPr>
            <p:ph type="body" sz="quarter" idx="3"/>
          </p:nvPr>
        </p:nvSpPr>
        <p:spPr bwMode="auto">
          <a:xfrm>
            <a:off x="703373" y="5278699"/>
            <a:ext cx="5630111" cy="4999509"/>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7" name="Rectangle 6"/>
          <p:cNvSpPr>
            <a:spLocks noGrp="1" noChangeArrowheads="1"/>
          </p:cNvSpPr>
          <p:nvPr>
            <p:ph type="ftr" sz="quarter" idx="4"/>
          </p:nvPr>
        </p:nvSpPr>
        <p:spPr bwMode="auto">
          <a:xfrm>
            <a:off x="2" y="10552225"/>
            <a:ext cx="3049513" cy="556649"/>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58" name="Rectangle 7"/>
          <p:cNvSpPr>
            <a:spLocks noGrp="1" noChangeArrowheads="1"/>
          </p:cNvSpPr>
          <p:nvPr>
            <p:ph type="sldNum" sz="quarter" idx="5"/>
          </p:nvPr>
        </p:nvSpPr>
        <p:spPr bwMode="auto">
          <a:xfrm>
            <a:off x="3985768" y="10552225"/>
            <a:ext cx="3049513" cy="556649"/>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E7FD82E-05B5-4455-9970-9767CC6AB459}"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1893355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7FD82E-05B5-4455-9970-9767CC6AB459}"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754204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7FD82E-05B5-4455-9970-9767CC6AB459}"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550143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7FD82E-05B5-4455-9970-9767CC6AB459}" type="datetimeFigureOut">
              <a:rPr lang="en-IN" smtClean="0"/>
              <a:t>18-05-2026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1754110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7FD82E-05B5-4455-9970-9767CC6AB459}" type="datetimeFigureOut">
              <a:rPr lang="en-IN" smtClean="0"/>
              <a:t>18-05-2026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2965322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E7FD82E-05B5-4455-9970-9767CC6AB459}" type="datetimeFigureOut">
              <a:rPr lang="en-IN" smtClean="0"/>
              <a:t>18-05-2026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496994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7FD82E-05B5-4455-9970-9767CC6AB459}" type="datetimeFigureOut">
              <a:rPr lang="en-IN" smtClean="0"/>
              <a:t>18-05-2026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2677746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7FD82E-05B5-4455-9970-9767CC6AB459}" type="datetimeFigureOut">
              <a:rPr lang="en-IN" smtClean="0"/>
              <a:t>18-05-2026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2157725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7FD82E-05B5-4455-9970-9767CC6AB459}" type="datetimeFigureOut">
              <a:rPr lang="en-IN" smtClean="0"/>
              <a:t>18-05-2026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3042344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7FD82E-05B5-4455-9970-9767CC6AB459}"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3133294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7FD82E-05B5-4455-9970-9767CC6AB459}"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049554F-2D27-4008-94A8-E71C528EED77}"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38065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E7FD82E-05B5-4455-9970-9767CC6AB459}" type="datetimeFigureOut">
              <a:rPr lang="en-IN" smtClean="0"/>
              <a:t>18-05-2026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17357315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E7FD82E-05B5-4455-9970-9767CC6AB459}" type="datetimeFigureOut">
              <a:rPr lang="en-IN" smtClean="0"/>
              <a:t>18-05-2026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49554F-2D27-4008-94A8-E71C528EED77}"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99185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E7FD82E-05B5-4455-9970-9767CC6AB459}" type="datetimeFigureOut">
              <a:rPr lang="en-IN" smtClean="0"/>
              <a:t>18-05-2026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5214611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7FD82E-05B5-4455-9970-9767CC6AB459}"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2839581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7FD82E-05B5-4455-9970-9767CC6AB459}" type="datetimeFigureOut">
              <a:rPr lang="en-IN" smtClean="0"/>
              <a:t>18-05-2026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049554F-2D27-4008-94A8-E71C528EED77}" type="slidenum">
              <a:rPr lang="en-IN" smtClean="0"/>
              <a:t>‹#›</a:t>
            </a:fld>
            <a:endParaRPr lang="en-IN"/>
          </a:p>
        </p:txBody>
      </p:sp>
    </p:spTree>
    <p:extLst>
      <p:ext uri="{BB962C8B-B14F-4D97-AF65-F5344CB8AC3E}">
        <p14:creationId xmlns:p14="http://schemas.microsoft.com/office/powerpoint/2010/main" val="4140092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E7FD82E-05B5-4455-9970-9767CC6AB459}" type="datetimeFigureOut">
              <a:rPr lang="en-IN" smtClean="0"/>
              <a:t>18-05-2026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049554F-2D27-4008-94A8-E71C528EED77}" type="slidenum">
              <a:rPr lang="en-IN" smtClean="0"/>
              <a:t>‹#›</a:t>
            </a:fld>
            <a:endParaRPr lang="en-IN"/>
          </a:p>
        </p:txBody>
      </p:sp>
    </p:spTree>
    <p:extLst>
      <p:ext uri="{BB962C8B-B14F-4D97-AF65-F5344CB8AC3E}">
        <p14:creationId xmlns:p14="http://schemas.microsoft.com/office/powerpoint/2010/main" val="270877939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a:xfrm>
            <a:off x="1494692" y="277907"/>
            <a:ext cx="10119946" cy="592531"/>
          </a:xfrm>
        </p:spPr>
        <p:txBody>
          <a:bodyPr>
            <a:noAutofit/>
          </a:bodyPr>
          <a:lstStyle/>
          <a:p>
            <a:pPr algn="ctr"/>
            <a:r>
              <a:rPr lang="en-IN" sz="3200" b="1" u="sng" dirty="0">
                <a:solidFill>
                  <a:srgbClr val="C00000"/>
                </a:solidFill>
                <a:latin typeface="Cambria" panose="02040503050406030204" pitchFamily="18" charset="0"/>
                <a:ea typeface="Cambria" panose="02040503050406030204" pitchFamily="18" charset="0"/>
              </a:rPr>
              <a:t>Response for Heat Wave</a:t>
            </a:r>
          </a:p>
        </p:txBody>
      </p:sp>
      <p:sp>
        <p:nvSpPr>
          <p:cNvPr id="1048587" name="Subtitle 2"/>
          <p:cNvSpPr>
            <a:spLocks noGrp="1"/>
          </p:cNvSpPr>
          <p:nvPr>
            <p:ph type="subTitle" idx="1"/>
          </p:nvPr>
        </p:nvSpPr>
        <p:spPr>
          <a:xfrm>
            <a:off x="1766046" y="943277"/>
            <a:ext cx="9083661" cy="5727030"/>
          </a:xfrm>
          <a:ln>
            <a:solidFill>
              <a:schemeClr val="accent1"/>
            </a:solidFill>
          </a:ln>
        </p:spPr>
        <p:txBody>
          <a:bodyPr>
            <a:noAutofit/>
          </a:bodyPr>
          <a:lstStyle/>
          <a:p>
            <a:pPr algn="just">
              <a:lnSpc>
                <a:spcPct val="120000"/>
              </a:lnSpc>
              <a:spcAft>
                <a:spcPts val="800"/>
              </a:spcAft>
            </a:pPr>
            <a:r>
              <a:rPr lang="en-US" sz="2400" dirty="0">
                <a:solidFill>
                  <a:schemeClr val="tx1"/>
                </a:solidFill>
                <a:latin typeface="Cambria" panose="02040503050406030204" pitchFamily="18" charset="0"/>
                <a:ea typeface="Cambria" panose="02040503050406030204" pitchFamily="18" charset="0"/>
              </a:rPr>
              <a:t>Response for Heat Wave Heat wave response refers to the immediate and coordinated actions taken before, during, and after extreme heat conditions to protect human life, reduce heat-related illnesses, minimize impacts on vulnerable populations, and maintain essential services. Simple Definition Heat wave response is the emergency action taken to reduce the harmful effects of extreme heat on people, animals, infrastructure, and public health. Main Objectives of Heat Wave Response Save lives Prevent heat stroke and dehydration Protect vulnerable groups Ensure water and medical support Reduce public exposure to extreme heat Maintain essential services Examples of Heat Wave Response Activities Issuing heat alerts and warnings Opening cooling centers Supplying drinking water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625643"/>
            <a:ext cx="9083661" cy="5792742"/>
          </a:xfrm>
          <a:ln>
            <a:solidFill>
              <a:schemeClr val="accent1"/>
            </a:solidFill>
          </a:ln>
        </p:spPr>
        <p:txBody>
          <a:bodyPr>
            <a:noAutofit/>
          </a:bodyPr>
          <a:lstStyle/>
          <a:p>
            <a:pPr algn="just">
              <a:lnSpc>
                <a:spcPct val="120000"/>
              </a:lnSpc>
              <a:spcAft>
                <a:spcPts val="800"/>
              </a:spcAft>
            </a:pPr>
            <a:endParaRPr lang="en-US" sz="3200" dirty="0">
              <a:solidFill>
                <a:srgbClr val="C00000"/>
              </a:solidFill>
              <a:latin typeface="Cambria" panose="02040503050406030204" pitchFamily="18" charset="0"/>
              <a:ea typeface="Cambria" panose="02040503050406030204" pitchFamily="18" charset="0"/>
            </a:endParaRPr>
          </a:p>
          <a:p>
            <a:pPr algn="just">
              <a:spcBef>
                <a:spcPts val="0"/>
              </a:spcBef>
            </a:pPr>
            <a:r>
              <a:rPr lang="en-US" sz="2800" dirty="0">
                <a:solidFill>
                  <a:schemeClr val="tx1"/>
                </a:solidFill>
                <a:latin typeface="Cambria" panose="02040503050406030204" pitchFamily="18" charset="0"/>
                <a:ea typeface="Cambria" panose="02040503050406030204" pitchFamily="18" charset="0"/>
              </a:rPr>
              <a:t> </a:t>
            </a:r>
            <a:endParaRPr lang="en-US" sz="2000" dirty="0">
              <a:solidFill>
                <a:schemeClr val="tx1"/>
              </a:solidFill>
              <a:latin typeface="Cambria" panose="02040503050406030204" pitchFamily="18" charset="0"/>
              <a:ea typeface="Cambria" panose="02040503050406030204" pitchFamily="18" charset="0"/>
            </a:endParaRPr>
          </a:p>
        </p:txBody>
      </p:sp>
      <p:sp>
        <p:nvSpPr>
          <p:cNvPr id="13" name="TextBox 12">
            <a:extLst>
              <a:ext uri="{FF2B5EF4-FFF2-40B4-BE49-F238E27FC236}">
                <a16:creationId xmlns:a16="http://schemas.microsoft.com/office/drawing/2014/main" id="{94948E34-EC07-4F57-8A47-8B852A444CA5}"/>
              </a:ext>
            </a:extLst>
          </p:cNvPr>
          <p:cNvSpPr txBox="1"/>
          <p:nvPr/>
        </p:nvSpPr>
        <p:spPr>
          <a:xfrm>
            <a:off x="1934676" y="749483"/>
            <a:ext cx="8866903" cy="5262979"/>
          </a:xfrm>
          <a:prstGeom prst="rect">
            <a:avLst/>
          </a:prstGeom>
          <a:noFill/>
        </p:spPr>
        <p:txBody>
          <a:bodyPr wrap="square">
            <a:spAutoFit/>
          </a:bodyPr>
          <a:lstStyle/>
          <a:p>
            <a:pPr algn="just"/>
            <a:r>
              <a:rPr lang="en-IN" sz="2800" dirty="0">
                <a:latin typeface="Calibri" panose="020F0502020204030204" pitchFamily="34" charset="0"/>
                <a:ea typeface="Calibri" panose="020F0502020204030204" pitchFamily="34" charset="0"/>
                <a:cs typeface="Calibri" panose="020F0502020204030204" pitchFamily="34" charset="0"/>
              </a:rPr>
              <a:t>Medical preparedness in hospitals Public awareness campaigns Rescheduling outdoor work Monitoring vulnerable people Emergency ambulance services Coordination among departments </a:t>
            </a:r>
            <a:r>
              <a:rPr lang="en-IN" sz="2800" dirty="0" err="1">
                <a:latin typeface="Calibri" panose="020F0502020204030204" pitchFamily="34" charset="0"/>
                <a:ea typeface="Calibri" panose="020F0502020204030204" pitchFamily="34" charset="0"/>
                <a:cs typeface="Calibri" panose="020F0502020204030204" pitchFamily="34" charset="0"/>
              </a:rPr>
              <a:t>Departments</a:t>
            </a:r>
            <a:r>
              <a:rPr lang="en-IN" sz="2800" dirty="0">
                <a:latin typeface="Calibri" panose="020F0502020204030204" pitchFamily="34" charset="0"/>
                <a:ea typeface="Calibri" panose="020F0502020204030204" pitchFamily="34" charset="0"/>
                <a:cs typeface="Calibri" panose="020F0502020204030204" pitchFamily="34" charset="0"/>
              </a:rPr>
              <a:t> Involved Health Department Disaster Management Authority Municipal Administration Fire Services Police Department Water Supply Department IMD (India Meteorological Department)NDMA Perspective According to National Disaster Management Authority guidelines, heat wave response focuses </a:t>
            </a:r>
            <a:r>
              <a:rPr lang="en-IN" sz="2800" dirty="0" err="1">
                <a:latin typeface="Calibri" panose="020F0502020204030204" pitchFamily="34" charset="0"/>
                <a:ea typeface="Calibri" panose="020F0502020204030204" pitchFamily="34" charset="0"/>
                <a:cs typeface="Calibri" panose="020F0502020204030204" pitchFamily="34" charset="0"/>
              </a:rPr>
              <a:t>on:Early</a:t>
            </a:r>
            <a:r>
              <a:rPr lang="en-IN" sz="2800" dirty="0">
                <a:latin typeface="Calibri" panose="020F0502020204030204" pitchFamily="34" charset="0"/>
                <a:ea typeface="Calibri" panose="020F0502020204030204" pitchFamily="34" charset="0"/>
                <a:cs typeface="Calibri" panose="020F0502020204030204" pitchFamily="34" charset="0"/>
              </a:rPr>
              <a:t> warning dissemination Inter-departmental coordination Public health preparedness Community awareness Emergency medical response.</a:t>
            </a:r>
          </a:p>
        </p:txBody>
      </p:sp>
    </p:spTree>
    <p:extLst>
      <p:ext uri="{BB962C8B-B14F-4D97-AF65-F5344CB8AC3E}">
        <p14:creationId xmlns:p14="http://schemas.microsoft.com/office/powerpoint/2010/main" val="36310712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a:xfrm>
            <a:off x="1494692" y="277907"/>
            <a:ext cx="10119946" cy="592531"/>
          </a:xfrm>
        </p:spPr>
        <p:txBody>
          <a:bodyPr>
            <a:noAutofit/>
          </a:bodyPr>
          <a:lstStyle/>
          <a:p>
            <a:pPr algn="ctr"/>
            <a:r>
              <a:rPr lang="en-IN" sz="3200" b="1" u="sng" dirty="0">
                <a:solidFill>
                  <a:srgbClr val="002060"/>
                </a:solidFill>
                <a:latin typeface="Cambria" panose="02040503050406030204" pitchFamily="18" charset="0"/>
                <a:ea typeface="Cambria" panose="02040503050406030204" pitchFamily="18" charset="0"/>
              </a:rPr>
              <a:t>Response to Heat Exhaustion</a:t>
            </a:r>
          </a:p>
        </p:txBody>
      </p:sp>
      <p:sp>
        <p:nvSpPr>
          <p:cNvPr id="1048587" name="Subtitle 2"/>
          <p:cNvSpPr>
            <a:spLocks noGrp="1"/>
          </p:cNvSpPr>
          <p:nvPr>
            <p:ph type="subTitle" idx="1"/>
          </p:nvPr>
        </p:nvSpPr>
        <p:spPr>
          <a:xfrm>
            <a:off x="1766046" y="1512277"/>
            <a:ext cx="9083661" cy="4906107"/>
          </a:xfrm>
          <a:ln>
            <a:solidFill>
              <a:schemeClr val="accent1"/>
            </a:solidFill>
          </a:ln>
        </p:spPr>
        <p:txBody>
          <a:bodyPr>
            <a:noAutofit/>
          </a:bodyPr>
          <a:lstStyle/>
          <a:p>
            <a:pPr algn="just">
              <a:lnSpc>
                <a:spcPct val="120000"/>
              </a:lnSpc>
              <a:spcAft>
                <a:spcPts val="800"/>
              </a:spcAft>
            </a:pPr>
            <a:r>
              <a:rPr lang="en-US" sz="2400" dirty="0">
                <a:solidFill>
                  <a:srgbClr val="C00000"/>
                </a:solidFill>
                <a:latin typeface="Cambria" panose="02040503050406030204" pitchFamily="18" charset="0"/>
                <a:ea typeface="Cambria" panose="02040503050406030204" pitchFamily="18" charset="0"/>
              </a:rPr>
              <a:t>What is Heat Exhaustion?</a:t>
            </a:r>
          </a:p>
          <a:p>
            <a:pPr algn="just">
              <a:lnSpc>
                <a:spcPct val="120000"/>
              </a:lnSpc>
              <a:spcAft>
                <a:spcPts val="800"/>
              </a:spcAft>
            </a:pPr>
            <a:r>
              <a:rPr lang="en-US" sz="2400" dirty="0">
                <a:solidFill>
                  <a:schemeClr val="tx1"/>
                </a:solidFill>
                <a:latin typeface="Cambria" panose="02040503050406030204" pitchFamily="18" charset="0"/>
                <a:ea typeface="Cambria" panose="02040503050406030204" pitchFamily="18" charset="0"/>
              </a:rPr>
              <a:t>Heat exhaustion is a heat-related illness caused by excessive loss of water and salts from the body due to prolonged exposure to high temperatures, especially with physical activity. It is less severe than heat stroke but can become dangerous if not treated quickly. Signs and Symptoms of Heat Exhaustion Common symptoms </a:t>
            </a:r>
            <a:r>
              <a:rPr lang="en-US" sz="2400" dirty="0" err="1">
                <a:solidFill>
                  <a:schemeClr val="tx1"/>
                </a:solidFill>
                <a:latin typeface="Cambria" panose="02040503050406030204" pitchFamily="18" charset="0"/>
                <a:ea typeface="Cambria" panose="02040503050406030204" pitchFamily="18" charset="0"/>
              </a:rPr>
              <a:t>include:Heavy</a:t>
            </a:r>
            <a:r>
              <a:rPr lang="en-US" sz="2400" dirty="0">
                <a:solidFill>
                  <a:schemeClr val="tx1"/>
                </a:solidFill>
                <a:latin typeface="Cambria" panose="02040503050406030204" pitchFamily="18" charset="0"/>
                <a:ea typeface="Cambria" panose="02040503050406030204" pitchFamily="18" charset="0"/>
              </a:rPr>
              <a:t> sweating Weakness and tiredness Dizziness Headache Muscle cramps Nausea or vomiting Pale and cool skin Fast but weak pulse Excessive thirst Fainting Immediate Response to Heat Exhaustion</a:t>
            </a:r>
          </a:p>
          <a:p>
            <a:pPr algn="just">
              <a:lnSpc>
                <a:spcPct val="120000"/>
              </a:lnSpc>
              <a:spcAft>
                <a:spcPts val="800"/>
              </a:spcAft>
            </a:pPr>
            <a:endParaRPr lang="en-US" sz="3200" dirty="0">
              <a:solidFill>
                <a:srgbClr val="C00000"/>
              </a:solidFill>
              <a:latin typeface="Cambria" panose="02040503050406030204" pitchFamily="18" charset="0"/>
              <a:ea typeface="Cambria" panose="02040503050406030204" pitchFamily="18" charset="0"/>
            </a:endParaRPr>
          </a:p>
          <a:p>
            <a:pPr algn="just">
              <a:spcBef>
                <a:spcPts val="0"/>
              </a:spcBef>
            </a:pPr>
            <a:r>
              <a:rPr lang="en-US" sz="2800" dirty="0">
                <a:solidFill>
                  <a:schemeClr val="tx1"/>
                </a:solidFill>
                <a:latin typeface="Cambria" panose="02040503050406030204" pitchFamily="18" charset="0"/>
                <a:ea typeface="Cambria" panose="02040503050406030204" pitchFamily="18" charset="0"/>
              </a:rPr>
              <a:t> </a:t>
            </a:r>
            <a:endParaRPr lang="en-US" sz="2000"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30661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527539"/>
            <a:ext cx="9083661" cy="5890846"/>
          </a:xfrm>
          <a:ln>
            <a:solidFill>
              <a:schemeClr val="accent1"/>
            </a:solidFill>
          </a:ln>
        </p:spPr>
        <p:txBody>
          <a:bodyPr>
            <a:noAutofit/>
          </a:bodyPr>
          <a:lstStyle/>
          <a:p>
            <a:pPr marL="514350" indent="-514350" algn="just">
              <a:spcBef>
                <a:spcPts val="0"/>
              </a:spcBef>
              <a:buAutoNum type="arabicPeriod"/>
            </a:pPr>
            <a:r>
              <a:rPr lang="en-US" sz="2800" dirty="0">
                <a:solidFill>
                  <a:srgbClr val="C00000"/>
                </a:solidFill>
                <a:latin typeface="Cambria" panose="02040503050406030204" pitchFamily="18" charset="0"/>
                <a:ea typeface="Cambria" panose="02040503050406030204" pitchFamily="18" charset="0"/>
              </a:rPr>
              <a:t>Shift the Person </a:t>
            </a:r>
            <a:r>
              <a:rPr lang="en-US" sz="2800" dirty="0">
                <a:solidFill>
                  <a:schemeClr val="tx1"/>
                </a:solidFill>
                <a:latin typeface="Cambria" panose="02040503050406030204" pitchFamily="18" charset="0"/>
                <a:ea typeface="Cambria" panose="02040503050406030204" pitchFamily="18" charset="0"/>
              </a:rPr>
              <a:t>to a Cool Place Move the person </a:t>
            </a:r>
            <a:r>
              <a:rPr lang="en-US" sz="2800" dirty="0" err="1">
                <a:solidFill>
                  <a:schemeClr val="tx1"/>
                </a:solidFill>
                <a:latin typeface="Cambria" panose="02040503050406030204" pitchFamily="18" charset="0"/>
                <a:ea typeface="Cambria" panose="02040503050406030204" pitchFamily="18" charset="0"/>
              </a:rPr>
              <a:t>to:Shade</a:t>
            </a:r>
            <a:r>
              <a:rPr lang="en-US" sz="2800" dirty="0">
                <a:solidFill>
                  <a:schemeClr val="tx1"/>
                </a:solidFill>
                <a:latin typeface="Cambria" panose="02040503050406030204" pitchFamily="18" charset="0"/>
                <a:ea typeface="Cambria" panose="02040503050406030204" pitchFamily="18" charset="0"/>
              </a:rPr>
              <a:t> Cool room Air-conditioned area Keep away from direct sunlight.</a:t>
            </a:r>
          </a:p>
          <a:p>
            <a:pPr marL="514350" indent="-514350" algn="just">
              <a:spcBef>
                <a:spcPts val="0"/>
              </a:spcBef>
              <a:buAutoNum type="arabicPeriod"/>
            </a:pPr>
            <a:r>
              <a:rPr lang="en-US" sz="2800" dirty="0">
                <a:solidFill>
                  <a:srgbClr val="C00000"/>
                </a:solidFill>
                <a:latin typeface="Cambria" panose="02040503050406030204" pitchFamily="18" charset="0"/>
                <a:ea typeface="Cambria" panose="02040503050406030204" pitchFamily="18" charset="0"/>
              </a:rPr>
              <a:t>Loosen or Remove </a:t>
            </a:r>
            <a:r>
              <a:rPr lang="en-US" sz="2800" dirty="0">
                <a:solidFill>
                  <a:schemeClr val="tx1"/>
                </a:solidFill>
                <a:latin typeface="Cambria" panose="02040503050406030204" pitchFamily="18" charset="0"/>
                <a:ea typeface="Cambria" panose="02040503050406030204" pitchFamily="18" charset="0"/>
              </a:rPr>
              <a:t>Tight Clothing Remove excess clothing Loosen belts, collars, shoes, etc. This helps body cooling.</a:t>
            </a:r>
          </a:p>
          <a:p>
            <a:pPr marL="514350" indent="-514350" algn="just">
              <a:spcBef>
                <a:spcPts val="0"/>
              </a:spcBef>
              <a:buAutoNum type="arabicPeriod"/>
            </a:pPr>
            <a:r>
              <a:rPr lang="en-US" sz="2800" dirty="0">
                <a:solidFill>
                  <a:srgbClr val="C00000"/>
                </a:solidFill>
                <a:latin typeface="Cambria" panose="02040503050406030204" pitchFamily="18" charset="0"/>
                <a:ea typeface="Cambria" panose="02040503050406030204" pitchFamily="18" charset="0"/>
              </a:rPr>
              <a:t>Cool the Body Use </a:t>
            </a:r>
            <a:r>
              <a:rPr lang="en-US" sz="2800" dirty="0">
                <a:solidFill>
                  <a:schemeClr val="tx1"/>
                </a:solidFill>
                <a:latin typeface="Cambria" panose="02040503050406030204" pitchFamily="18" charset="0"/>
                <a:ea typeface="Cambria" panose="02040503050406030204" pitchFamily="18" charset="0"/>
              </a:rPr>
              <a:t>any available cooling method : Sprinkle cool water Sponge with wet cloth Use fans Apply ice packs on : Neck Armpits Groin.</a:t>
            </a:r>
          </a:p>
          <a:p>
            <a:pPr marL="514350" indent="-514350" algn="just">
              <a:spcBef>
                <a:spcPts val="0"/>
              </a:spcBef>
              <a:buAutoNum type="arabicPeriod"/>
            </a:pPr>
            <a:r>
              <a:rPr lang="en-US" sz="2800" dirty="0">
                <a:solidFill>
                  <a:srgbClr val="C00000"/>
                </a:solidFill>
                <a:latin typeface="Cambria" panose="02040503050406030204" pitchFamily="18" charset="0"/>
                <a:ea typeface="Cambria" panose="02040503050406030204" pitchFamily="18" charset="0"/>
              </a:rPr>
              <a:t>Give Fluids</a:t>
            </a:r>
            <a:r>
              <a:rPr lang="en-US" sz="2800" dirty="0">
                <a:solidFill>
                  <a:schemeClr val="tx1"/>
                </a:solidFill>
                <a:latin typeface="Cambria" panose="02040503050406030204" pitchFamily="18" charset="0"/>
                <a:ea typeface="Cambria" panose="02040503050406030204" pitchFamily="18" charset="0"/>
              </a:rPr>
              <a:t> If the person is conscious : Give cool drinking water slowly ORS (Oral Rehydration Solution)Electrolyte drinks Avoid : Alcohol Very sugary drinks Excess caffeine.</a:t>
            </a:r>
          </a:p>
          <a:p>
            <a:pPr algn="just">
              <a:spcBef>
                <a:spcPts val="0"/>
              </a:spcBef>
            </a:pPr>
            <a:r>
              <a:rPr lang="en-US" sz="2800" dirty="0">
                <a:solidFill>
                  <a:schemeClr val="tx1"/>
                </a:solidFill>
                <a:latin typeface="Cambria" panose="02040503050406030204" pitchFamily="18" charset="0"/>
                <a:ea typeface="Cambria" panose="02040503050406030204" pitchFamily="18" charset="0"/>
              </a:rPr>
              <a:t> </a:t>
            </a:r>
            <a:endParaRPr lang="en-US" sz="2000"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75516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527539"/>
            <a:ext cx="9083661" cy="5890846"/>
          </a:xfrm>
          <a:ln>
            <a:solidFill>
              <a:schemeClr val="accent1"/>
            </a:solidFill>
          </a:ln>
        </p:spPr>
        <p:txBody>
          <a:bodyPr>
            <a:noAutofit/>
          </a:bodyPr>
          <a:lstStyle/>
          <a:p>
            <a:pPr marL="355600" indent="-355600" algn="just">
              <a:spcBef>
                <a:spcPts val="0"/>
              </a:spcBef>
            </a:pPr>
            <a:r>
              <a:rPr lang="en-US" sz="2000" dirty="0">
                <a:solidFill>
                  <a:schemeClr val="accent1"/>
                </a:solidFill>
                <a:latin typeface="Cambria" panose="02040503050406030204" pitchFamily="18" charset="0"/>
                <a:ea typeface="Cambria" panose="02040503050406030204" pitchFamily="18" charset="0"/>
              </a:rPr>
              <a:t>5</a:t>
            </a:r>
            <a:r>
              <a:rPr lang="en-US" sz="2400" dirty="0">
                <a:solidFill>
                  <a:schemeClr val="tx1"/>
                </a:solidFill>
                <a:latin typeface="Cambria" panose="02040503050406030204" pitchFamily="18" charset="0"/>
                <a:ea typeface="Cambria" panose="02040503050406030204" pitchFamily="18" charset="0"/>
              </a:rPr>
              <a:t>. </a:t>
            </a:r>
            <a:r>
              <a:rPr lang="en-US" sz="2400" dirty="0">
                <a:solidFill>
                  <a:srgbClr val="C00000"/>
                </a:solidFill>
                <a:latin typeface="Cambria" panose="02040503050406030204" pitchFamily="18" charset="0"/>
                <a:ea typeface="Cambria" panose="02040503050406030204" pitchFamily="18" charset="0"/>
              </a:rPr>
              <a:t>Allow Rest </a:t>
            </a:r>
            <a:r>
              <a:rPr lang="en-US" sz="2400" dirty="0">
                <a:solidFill>
                  <a:schemeClr val="tx1"/>
                </a:solidFill>
                <a:latin typeface="Cambria" panose="02040503050406030204" pitchFamily="18" charset="0"/>
                <a:ea typeface="Cambria" panose="02040503050406030204" pitchFamily="18" charset="0"/>
              </a:rPr>
              <a:t>Make the person lie down Elevate legs slightly if dizzy Avoid physical activity. When to Seek Medical Help Take the person to a hospital immediately </a:t>
            </a:r>
            <a:r>
              <a:rPr lang="en-US" sz="2400" dirty="0" err="1">
                <a:solidFill>
                  <a:schemeClr val="tx1"/>
                </a:solidFill>
                <a:latin typeface="Cambria" panose="02040503050406030204" pitchFamily="18" charset="0"/>
                <a:ea typeface="Cambria" panose="02040503050406030204" pitchFamily="18" charset="0"/>
              </a:rPr>
              <a:t>if:Symptoms</a:t>
            </a:r>
            <a:r>
              <a:rPr lang="en-US" sz="2400" dirty="0">
                <a:solidFill>
                  <a:schemeClr val="tx1"/>
                </a:solidFill>
                <a:latin typeface="Cambria" panose="02040503050406030204" pitchFamily="18" charset="0"/>
                <a:ea typeface="Cambria" panose="02040503050406030204" pitchFamily="18" charset="0"/>
              </a:rPr>
              <a:t> worsen Vomiting occurs repeatedly Person becomes confused Loss of consciousness occurs Symptoms continue for more than 1 hour Body temperature rises significantly This may indicate progression to heat stroke, which is a medical emergency. Difference Between Heat Exhaustion and Heat Stroke Heat Exhaustion Heat Stroke Heavy sweating present Sweating may stop Skin cool and moist Skin hot and dry Person conscious Confusion or unconsciousness Body temperature moderate Temperature often above 40°CLess severe Life-threatening emergency Preventive Measures To prevent heat </a:t>
            </a:r>
            <a:r>
              <a:rPr lang="en-US" sz="2400" dirty="0" err="1">
                <a:solidFill>
                  <a:schemeClr val="tx1"/>
                </a:solidFill>
                <a:latin typeface="Cambria" panose="02040503050406030204" pitchFamily="18" charset="0"/>
                <a:ea typeface="Cambria" panose="02040503050406030204" pitchFamily="18" charset="0"/>
              </a:rPr>
              <a:t>exhaustion:Drink</a:t>
            </a:r>
            <a:r>
              <a:rPr lang="en-US" sz="2400" dirty="0">
                <a:solidFill>
                  <a:schemeClr val="tx1"/>
                </a:solidFill>
                <a:latin typeface="Cambria" panose="02040503050406030204" pitchFamily="18" charset="0"/>
                <a:ea typeface="Cambria" panose="02040503050406030204" pitchFamily="18" charset="0"/>
              </a:rPr>
              <a:t> plenty of water Avoid outdoor work during peak heat hours Wear light-colored loose clothes Use caps or umbrellas Take rest breaks Avoid dehydration</a:t>
            </a:r>
          </a:p>
        </p:txBody>
      </p:sp>
    </p:spTree>
    <p:extLst>
      <p:ext uri="{BB962C8B-B14F-4D97-AF65-F5344CB8AC3E}">
        <p14:creationId xmlns:p14="http://schemas.microsoft.com/office/powerpoint/2010/main" val="3653505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527539"/>
            <a:ext cx="9083661" cy="5890846"/>
          </a:xfrm>
          <a:ln>
            <a:solidFill>
              <a:schemeClr val="accent1"/>
            </a:solidFill>
          </a:ln>
        </p:spPr>
        <p:txBody>
          <a:bodyPr>
            <a:noAutofit/>
          </a:bodyPr>
          <a:lstStyle/>
          <a:p>
            <a:pPr algn="just">
              <a:spcBef>
                <a:spcPts val="0"/>
              </a:spcBef>
            </a:pPr>
            <a:r>
              <a:rPr lang="en-US" sz="2400" dirty="0">
                <a:solidFill>
                  <a:srgbClr val="C00000"/>
                </a:solidFill>
                <a:latin typeface="Cambria" panose="02040503050406030204" pitchFamily="18" charset="0"/>
                <a:ea typeface="Cambria" panose="02040503050406030204" pitchFamily="18" charset="0"/>
              </a:rPr>
              <a:t>Section 30 </a:t>
            </a:r>
          </a:p>
          <a:p>
            <a:pPr algn="just">
              <a:spcBef>
                <a:spcPts val="0"/>
              </a:spcBef>
            </a:pPr>
            <a:r>
              <a:rPr lang="en-US" sz="2400" dirty="0">
                <a:solidFill>
                  <a:schemeClr val="tx1"/>
                </a:solidFill>
                <a:latin typeface="Cambria" panose="02040503050406030204" pitchFamily="18" charset="0"/>
                <a:ea typeface="Cambria" panose="02040503050406030204" pitchFamily="18" charset="0"/>
              </a:rPr>
              <a:t>Powers and Functions of District Authority Important response-related functions include: Coordinate relief operations Ensure implementation of response plans Review preparedness measures Provide emergency communication </a:t>
            </a:r>
          </a:p>
          <a:p>
            <a:pPr algn="just">
              <a:spcBef>
                <a:spcPts val="0"/>
              </a:spcBef>
            </a:pPr>
            <a:r>
              <a:rPr lang="en-US" sz="2400" dirty="0">
                <a:solidFill>
                  <a:srgbClr val="C00000"/>
                </a:solidFill>
                <a:latin typeface="Cambria" panose="02040503050406030204" pitchFamily="18" charset="0"/>
                <a:ea typeface="Cambria" panose="02040503050406030204" pitchFamily="18" charset="0"/>
              </a:rPr>
              <a:t>Section 34 </a:t>
            </a:r>
          </a:p>
          <a:p>
            <a:pPr algn="just">
              <a:spcBef>
                <a:spcPts val="0"/>
              </a:spcBef>
            </a:pPr>
            <a:r>
              <a:rPr lang="en-US" sz="2400" dirty="0">
                <a:solidFill>
                  <a:schemeClr val="tx1"/>
                </a:solidFill>
                <a:latin typeface="Cambria" panose="02040503050406030204" pitchFamily="18" charset="0"/>
                <a:ea typeface="Cambria" panose="02040503050406030204" pitchFamily="18" charset="0"/>
              </a:rPr>
              <a:t>Powers and Functions of District Authority in the Event of </a:t>
            </a:r>
            <a:r>
              <a:rPr lang="en-US" sz="2400" dirty="0" err="1">
                <a:solidFill>
                  <a:schemeClr val="tx1"/>
                </a:solidFill>
                <a:latin typeface="Cambria" panose="02040503050406030204" pitchFamily="18" charset="0"/>
                <a:ea typeface="Cambria" panose="02040503050406030204" pitchFamily="18" charset="0"/>
              </a:rPr>
              <a:t>DisasterThis</a:t>
            </a:r>
            <a:r>
              <a:rPr lang="en-US" sz="2400" dirty="0">
                <a:solidFill>
                  <a:schemeClr val="tx1"/>
                </a:solidFill>
                <a:latin typeface="Cambria" panose="02040503050406030204" pitchFamily="18" charset="0"/>
                <a:ea typeface="Cambria" panose="02040503050406030204" pitchFamily="18" charset="0"/>
              </a:rPr>
              <a:t> is one of the most important response sections. The District Authority </a:t>
            </a:r>
            <a:r>
              <a:rPr lang="en-US" sz="2400" dirty="0" err="1">
                <a:solidFill>
                  <a:schemeClr val="tx1"/>
                </a:solidFill>
                <a:latin typeface="Cambria" panose="02040503050406030204" pitchFamily="18" charset="0"/>
                <a:ea typeface="Cambria" panose="02040503050406030204" pitchFamily="18" charset="0"/>
              </a:rPr>
              <a:t>may:Give</a:t>
            </a:r>
            <a:r>
              <a:rPr lang="en-US" sz="2400" dirty="0">
                <a:solidFill>
                  <a:schemeClr val="tx1"/>
                </a:solidFill>
                <a:latin typeface="Cambria" panose="02040503050406030204" pitchFamily="18" charset="0"/>
                <a:ea typeface="Cambria" panose="02040503050406030204" pitchFamily="18" charset="0"/>
              </a:rPr>
              <a:t> directions for rescue operations Evacuate people Provide shelter, food, and medical </a:t>
            </a:r>
            <a:r>
              <a:rPr lang="en-US" sz="2400" dirty="0" err="1">
                <a:solidFill>
                  <a:schemeClr val="tx1"/>
                </a:solidFill>
                <a:latin typeface="Cambria" panose="02040503050406030204" pitchFamily="18" charset="0"/>
                <a:ea typeface="Cambria" panose="02040503050406030204" pitchFamily="18" charset="0"/>
              </a:rPr>
              <a:t>aidArrange</a:t>
            </a:r>
            <a:r>
              <a:rPr lang="en-US" sz="2400" dirty="0">
                <a:solidFill>
                  <a:schemeClr val="tx1"/>
                </a:solidFill>
                <a:latin typeface="Cambria" panose="02040503050406030204" pitchFamily="18" charset="0"/>
                <a:ea typeface="Cambria" panose="02040503050406030204" pitchFamily="18" charset="0"/>
              </a:rPr>
              <a:t> emergency communication Coordinate relief measures</a:t>
            </a:r>
          </a:p>
          <a:p>
            <a:pPr algn="just">
              <a:spcBef>
                <a:spcPts val="0"/>
              </a:spcBef>
            </a:pPr>
            <a:r>
              <a:rPr lang="en-US" sz="2400" dirty="0">
                <a:solidFill>
                  <a:srgbClr val="C00000"/>
                </a:solidFill>
                <a:latin typeface="Cambria" panose="02040503050406030204" pitchFamily="18" charset="0"/>
                <a:ea typeface="Cambria" panose="02040503050406030204" pitchFamily="18" charset="0"/>
              </a:rPr>
              <a:t>Section 65</a:t>
            </a:r>
          </a:p>
          <a:p>
            <a:pPr algn="just">
              <a:spcBef>
                <a:spcPts val="0"/>
              </a:spcBef>
            </a:pPr>
            <a:r>
              <a:rPr lang="en-US" sz="2400" dirty="0">
                <a:solidFill>
                  <a:srgbClr val="C00000"/>
                </a:solidFill>
                <a:latin typeface="Cambria" panose="02040503050406030204" pitchFamily="18" charset="0"/>
                <a:ea typeface="Cambria" panose="02040503050406030204" pitchFamily="18" charset="0"/>
              </a:rPr>
              <a:t> </a:t>
            </a:r>
            <a:r>
              <a:rPr lang="en-US" sz="2400" dirty="0">
                <a:solidFill>
                  <a:schemeClr val="tx1"/>
                </a:solidFill>
                <a:latin typeface="Cambria" panose="02040503050406030204" pitchFamily="18" charset="0"/>
                <a:ea typeface="Cambria" panose="02040503050406030204" pitchFamily="18" charset="0"/>
              </a:rPr>
              <a:t>Power of Requisition of Resources Government may requisition : Vehicles Buildings Resources for disaster response and recovery operations.</a:t>
            </a:r>
          </a:p>
        </p:txBody>
      </p:sp>
    </p:spTree>
    <p:extLst>
      <p:ext uri="{BB962C8B-B14F-4D97-AF65-F5344CB8AC3E}">
        <p14:creationId xmlns:p14="http://schemas.microsoft.com/office/powerpoint/2010/main" val="1714724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527539"/>
            <a:ext cx="9083661" cy="5890846"/>
          </a:xfrm>
          <a:ln>
            <a:solidFill>
              <a:schemeClr val="accent1"/>
            </a:solidFill>
          </a:ln>
        </p:spPr>
        <p:txBody>
          <a:bodyPr>
            <a:noAutofit/>
          </a:bodyPr>
          <a:lstStyle/>
          <a:p>
            <a:pPr algn="just">
              <a:spcBef>
                <a:spcPts val="0"/>
              </a:spcBef>
            </a:pPr>
            <a:r>
              <a:rPr lang="en-US" sz="4800" dirty="0">
                <a:solidFill>
                  <a:srgbClr val="C00000"/>
                </a:solidFill>
                <a:latin typeface="Cambria" panose="02040503050406030204" pitchFamily="18" charset="0"/>
                <a:ea typeface="Cambria" panose="02040503050406030204" pitchFamily="18" charset="0"/>
              </a:rPr>
              <a:t>Rehabilitation</a:t>
            </a:r>
            <a:r>
              <a:rPr lang="en-US" sz="4800" dirty="0">
                <a:solidFill>
                  <a:schemeClr val="tx1"/>
                </a:solidFill>
                <a:latin typeface="Cambria" panose="02040503050406030204" pitchFamily="18" charset="0"/>
                <a:ea typeface="Cambria" panose="02040503050406030204" pitchFamily="18" charset="0"/>
              </a:rPr>
              <a:t> restores basic functioning after a disaster, whereas recovery restores the overall normal life and long-term stability of the community</a:t>
            </a:r>
            <a:r>
              <a:rPr lang="en-US" sz="2400" dirty="0">
                <a:solidFill>
                  <a:schemeClr val="tx1"/>
                </a:solidFill>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1833095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a:xfrm>
            <a:off x="1494692" y="277907"/>
            <a:ext cx="10119946" cy="592531"/>
          </a:xfrm>
        </p:spPr>
        <p:txBody>
          <a:bodyPr>
            <a:noAutofit/>
          </a:bodyPr>
          <a:lstStyle/>
          <a:p>
            <a:pPr algn="ctr"/>
            <a:r>
              <a:rPr lang="en-IN" sz="3200" b="1" u="sng" dirty="0">
                <a:solidFill>
                  <a:srgbClr val="7030A0"/>
                </a:solidFill>
                <a:latin typeface="Cambria" panose="02040503050406030204" pitchFamily="18" charset="0"/>
                <a:ea typeface="Cambria" panose="02040503050406030204" pitchFamily="18" charset="0"/>
              </a:rPr>
              <a:t>Heat Wave Recovery</a:t>
            </a:r>
          </a:p>
        </p:txBody>
      </p:sp>
      <p:sp>
        <p:nvSpPr>
          <p:cNvPr id="1048587" name="Subtitle 2"/>
          <p:cNvSpPr>
            <a:spLocks noGrp="1"/>
          </p:cNvSpPr>
          <p:nvPr>
            <p:ph type="subTitle" idx="1"/>
          </p:nvPr>
        </p:nvSpPr>
        <p:spPr>
          <a:xfrm>
            <a:off x="1766046" y="943277"/>
            <a:ext cx="9083661" cy="5727030"/>
          </a:xfrm>
          <a:ln>
            <a:solidFill>
              <a:schemeClr val="accent1"/>
            </a:solidFill>
          </a:ln>
        </p:spPr>
        <p:txBody>
          <a:bodyPr>
            <a:noAutofit/>
          </a:bodyPr>
          <a:lstStyle/>
          <a:p>
            <a:pPr algn="just">
              <a:lnSpc>
                <a:spcPct val="120000"/>
              </a:lnSpc>
              <a:spcAft>
                <a:spcPts val="800"/>
              </a:spcAft>
            </a:pPr>
            <a:r>
              <a:rPr lang="en-US" sz="2400" dirty="0">
                <a:solidFill>
                  <a:schemeClr val="tx1"/>
                </a:solidFill>
                <a:latin typeface="Cambria" panose="02040503050406030204" pitchFamily="18" charset="0"/>
                <a:ea typeface="Cambria" panose="02040503050406030204" pitchFamily="18" charset="0"/>
              </a:rPr>
              <a:t>Heat wave recovery refers to the process of restoring normal life, health services, livelihoods, infrastructure, and community functioning after a heat wave event, while also improving resilience against future heat </a:t>
            </a:r>
            <a:r>
              <a:rPr lang="en-US" sz="2400" dirty="0" err="1">
                <a:solidFill>
                  <a:schemeClr val="tx1"/>
                </a:solidFill>
                <a:latin typeface="Cambria" panose="02040503050406030204" pitchFamily="18" charset="0"/>
                <a:ea typeface="Cambria" panose="02040503050406030204" pitchFamily="18" charset="0"/>
              </a:rPr>
              <a:t>waves.Meaning</a:t>
            </a:r>
            <a:r>
              <a:rPr lang="en-US" sz="2400" dirty="0">
                <a:solidFill>
                  <a:schemeClr val="tx1"/>
                </a:solidFill>
                <a:latin typeface="Cambria" panose="02040503050406030204" pitchFamily="18" charset="0"/>
                <a:ea typeface="Cambria" panose="02040503050406030204" pitchFamily="18" charset="0"/>
              </a:rPr>
              <a:t> of Heat Wave </a:t>
            </a:r>
            <a:r>
              <a:rPr lang="en-US" sz="2400" dirty="0" err="1">
                <a:solidFill>
                  <a:schemeClr val="tx1"/>
                </a:solidFill>
                <a:latin typeface="Cambria" panose="02040503050406030204" pitchFamily="18" charset="0"/>
                <a:ea typeface="Cambria" panose="02040503050406030204" pitchFamily="18" charset="0"/>
              </a:rPr>
              <a:t>RecoveryRecovery</a:t>
            </a:r>
            <a:r>
              <a:rPr lang="en-US" sz="2400" dirty="0">
                <a:solidFill>
                  <a:schemeClr val="tx1"/>
                </a:solidFill>
                <a:latin typeface="Cambria" panose="02040503050406030204" pitchFamily="18" charset="0"/>
                <a:ea typeface="Cambria" panose="02040503050406030204" pitchFamily="18" charset="0"/>
              </a:rPr>
              <a:t> begins after the severe heat conditions </a:t>
            </a:r>
            <a:r>
              <a:rPr lang="en-US" sz="2400" dirty="0" err="1">
                <a:solidFill>
                  <a:schemeClr val="tx1"/>
                </a:solidFill>
                <a:latin typeface="Cambria" panose="02040503050406030204" pitchFamily="18" charset="0"/>
                <a:ea typeface="Cambria" panose="02040503050406030204" pitchFamily="18" charset="0"/>
              </a:rPr>
              <a:t>reduce.It</a:t>
            </a:r>
            <a:r>
              <a:rPr lang="en-US" sz="2400" dirty="0">
                <a:solidFill>
                  <a:schemeClr val="tx1"/>
                </a:solidFill>
                <a:latin typeface="Cambria" panose="02040503050406030204" pitchFamily="18" charset="0"/>
                <a:ea typeface="Cambria" panose="02040503050406030204" pitchFamily="18" charset="0"/>
              </a:rPr>
              <a:t> focuses </a:t>
            </a:r>
            <a:r>
              <a:rPr lang="en-US" sz="2400" dirty="0" err="1">
                <a:solidFill>
                  <a:schemeClr val="tx1"/>
                </a:solidFill>
                <a:latin typeface="Cambria" panose="02040503050406030204" pitchFamily="18" charset="0"/>
                <a:ea typeface="Cambria" panose="02040503050406030204" pitchFamily="18" charset="0"/>
              </a:rPr>
              <a:t>on:Helping</a:t>
            </a:r>
            <a:r>
              <a:rPr lang="en-US" sz="2400" dirty="0">
                <a:solidFill>
                  <a:schemeClr val="tx1"/>
                </a:solidFill>
                <a:latin typeface="Cambria" panose="02040503050406030204" pitchFamily="18" charset="0"/>
                <a:ea typeface="Cambria" panose="02040503050406030204" pitchFamily="18" charset="0"/>
              </a:rPr>
              <a:t> affected people return to normal </a:t>
            </a:r>
            <a:r>
              <a:rPr lang="en-US" sz="2400" dirty="0" err="1">
                <a:solidFill>
                  <a:schemeClr val="tx1"/>
                </a:solidFill>
                <a:latin typeface="Cambria" panose="02040503050406030204" pitchFamily="18" charset="0"/>
                <a:ea typeface="Cambria" panose="02040503050406030204" pitchFamily="18" charset="0"/>
              </a:rPr>
              <a:t>lifeRestoring</a:t>
            </a:r>
            <a:r>
              <a:rPr lang="en-US" sz="2400" dirty="0">
                <a:solidFill>
                  <a:schemeClr val="tx1"/>
                </a:solidFill>
                <a:latin typeface="Cambria" panose="02040503050406030204" pitchFamily="18" charset="0"/>
                <a:ea typeface="Cambria" panose="02040503050406030204" pitchFamily="18" charset="0"/>
              </a:rPr>
              <a:t> essential </a:t>
            </a:r>
            <a:r>
              <a:rPr lang="en-US" sz="2400" dirty="0" err="1">
                <a:solidFill>
                  <a:schemeClr val="tx1"/>
                </a:solidFill>
                <a:latin typeface="Cambria" panose="02040503050406030204" pitchFamily="18" charset="0"/>
                <a:ea typeface="Cambria" panose="02040503050406030204" pitchFamily="18" charset="0"/>
              </a:rPr>
              <a:t>servicesAssessing</a:t>
            </a:r>
            <a:r>
              <a:rPr lang="en-US" sz="2400" dirty="0">
                <a:solidFill>
                  <a:schemeClr val="tx1"/>
                </a:solidFill>
                <a:latin typeface="Cambria" panose="02040503050406030204" pitchFamily="18" charset="0"/>
                <a:ea typeface="Cambria" panose="02040503050406030204" pitchFamily="18" charset="0"/>
              </a:rPr>
              <a:t> damages and </a:t>
            </a:r>
            <a:r>
              <a:rPr lang="en-US" sz="2400" dirty="0" err="1">
                <a:solidFill>
                  <a:schemeClr val="tx1"/>
                </a:solidFill>
                <a:latin typeface="Cambria" panose="02040503050406030204" pitchFamily="18" charset="0"/>
                <a:ea typeface="Cambria" panose="02040503050406030204" pitchFamily="18" charset="0"/>
              </a:rPr>
              <a:t>lossesImproving</a:t>
            </a:r>
            <a:r>
              <a:rPr lang="en-US" sz="2400" dirty="0">
                <a:solidFill>
                  <a:schemeClr val="tx1"/>
                </a:solidFill>
                <a:latin typeface="Cambria" panose="02040503050406030204" pitchFamily="18" charset="0"/>
                <a:ea typeface="Cambria" panose="02040503050406030204" pitchFamily="18" charset="0"/>
              </a:rPr>
              <a:t> preparedness for future heat </a:t>
            </a:r>
            <a:r>
              <a:rPr lang="en-US" sz="2400" dirty="0" err="1">
                <a:solidFill>
                  <a:schemeClr val="tx1"/>
                </a:solidFill>
                <a:latin typeface="Cambria" panose="02040503050406030204" pitchFamily="18" charset="0"/>
                <a:ea typeface="Cambria" panose="02040503050406030204" pitchFamily="18" charset="0"/>
              </a:rPr>
              <a:t>wavesRecovery</a:t>
            </a:r>
            <a:r>
              <a:rPr lang="en-US" sz="2400" dirty="0">
                <a:solidFill>
                  <a:schemeClr val="tx1"/>
                </a:solidFill>
                <a:latin typeface="Cambria" panose="02040503050406030204" pitchFamily="18" charset="0"/>
                <a:ea typeface="Cambria" panose="02040503050406030204" pitchFamily="18" charset="0"/>
              </a:rPr>
              <a:t> is usually a medium- to long-term </a:t>
            </a:r>
            <a:r>
              <a:rPr lang="en-US" sz="2400" dirty="0" err="1">
                <a:solidFill>
                  <a:schemeClr val="tx1"/>
                </a:solidFill>
                <a:latin typeface="Cambria" panose="02040503050406030204" pitchFamily="18" charset="0"/>
                <a:ea typeface="Cambria" panose="02040503050406030204" pitchFamily="18" charset="0"/>
              </a:rPr>
              <a:t>process.Objectives</a:t>
            </a:r>
            <a:r>
              <a:rPr lang="en-US" sz="2400" dirty="0">
                <a:solidFill>
                  <a:schemeClr val="tx1"/>
                </a:solidFill>
                <a:latin typeface="Cambria" panose="02040503050406030204" pitchFamily="18" charset="0"/>
                <a:ea typeface="Cambria" panose="02040503050406030204" pitchFamily="18" charset="0"/>
              </a:rPr>
              <a:t> of Heat Wave </a:t>
            </a:r>
            <a:r>
              <a:rPr lang="en-US" sz="2400" dirty="0" err="1">
                <a:solidFill>
                  <a:schemeClr val="tx1"/>
                </a:solidFill>
                <a:latin typeface="Cambria" panose="02040503050406030204" pitchFamily="18" charset="0"/>
                <a:ea typeface="Cambria" panose="02040503050406030204" pitchFamily="18" charset="0"/>
              </a:rPr>
              <a:t>RecoveryRestore</a:t>
            </a:r>
            <a:r>
              <a:rPr lang="en-US" sz="2400" dirty="0">
                <a:solidFill>
                  <a:schemeClr val="tx1"/>
                </a:solidFill>
                <a:latin typeface="Cambria" panose="02040503050406030204" pitchFamily="18" charset="0"/>
                <a:ea typeface="Cambria" panose="02040503050406030204" pitchFamily="18" charset="0"/>
              </a:rPr>
              <a:t> public health </a:t>
            </a:r>
            <a:r>
              <a:rPr lang="en-US" sz="2400" dirty="0" err="1">
                <a:solidFill>
                  <a:schemeClr val="tx1"/>
                </a:solidFill>
                <a:latin typeface="Cambria" panose="02040503050406030204" pitchFamily="18" charset="0"/>
                <a:ea typeface="Cambria" panose="02040503050406030204" pitchFamily="18" charset="0"/>
              </a:rPr>
              <a:t>systemsSupport</a:t>
            </a:r>
            <a:r>
              <a:rPr lang="en-US" sz="2400" dirty="0">
                <a:solidFill>
                  <a:schemeClr val="tx1"/>
                </a:solidFill>
                <a:latin typeface="Cambria" panose="02040503050406030204" pitchFamily="18" charset="0"/>
                <a:ea typeface="Cambria" panose="02040503050406030204" pitchFamily="18" charset="0"/>
              </a:rPr>
              <a:t> affected families and </a:t>
            </a:r>
            <a:r>
              <a:rPr lang="en-US" sz="2400" dirty="0" err="1">
                <a:solidFill>
                  <a:schemeClr val="tx1"/>
                </a:solidFill>
                <a:latin typeface="Cambria" panose="02040503050406030204" pitchFamily="18" charset="0"/>
                <a:ea typeface="Cambria" panose="02040503050406030204" pitchFamily="18" charset="0"/>
              </a:rPr>
              <a:t>workersRe</a:t>
            </a:r>
            <a:r>
              <a:rPr lang="en-US" sz="2400" dirty="0">
                <a:solidFill>
                  <a:schemeClr val="tx1"/>
                </a:solidFill>
                <a:latin typeface="Cambria" panose="02040503050406030204" pitchFamily="18" charset="0"/>
                <a:ea typeface="Cambria" panose="02040503050406030204" pitchFamily="18" charset="0"/>
              </a:rPr>
              <a:t>-establish water and electricity </a:t>
            </a:r>
            <a:r>
              <a:rPr lang="en-US" sz="2400" dirty="0" err="1">
                <a:solidFill>
                  <a:schemeClr val="tx1"/>
                </a:solidFill>
                <a:latin typeface="Cambria" panose="02040503050406030204" pitchFamily="18" charset="0"/>
                <a:ea typeface="Cambria" panose="02040503050406030204" pitchFamily="18" charset="0"/>
              </a:rPr>
              <a:t>supplyReduce</a:t>
            </a:r>
            <a:r>
              <a:rPr lang="en-US" sz="2400" dirty="0">
                <a:solidFill>
                  <a:schemeClr val="tx1"/>
                </a:solidFill>
                <a:latin typeface="Cambria" panose="02040503050406030204" pitchFamily="18" charset="0"/>
                <a:ea typeface="Cambria" panose="02040503050406030204" pitchFamily="18" charset="0"/>
              </a:rPr>
              <a:t> long-term impacts on </a:t>
            </a:r>
            <a:r>
              <a:rPr lang="en-US" sz="2400" dirty="0" err="1">
                <a:solidFill>
                  <a:schemeClr val="tx1"/>
                </a:solidFill>
                <a:latin typeface="Cambria" panose="02040503050406030204" pitchFamily="18" charset="0"/>
                <a:ea typeface="Cambria" panose="02040503050406030204" pitchFamily="18" charset="0"/>
              </a:rPr>
              <a:t>livelihoodsImprove</a:t>
            </a:r>
            <a:r>
              <a:rPr lang="en-US" sz="2400" dirty="0">
                <a:solidFill>
                  <a:schemeClr val="tx1"/>
                </a:solidFill>
                <a:latin typeface="Cambria" panose="02040503050406030204" pitchFamily="18" charset="0"/>
                <a:ea typeface="Cambria" panose="02040503050406030204" pitchFamily="18" charset="0"/>
              </a:rPr>
              <a:t> future heat </a:t>
            </a:r>
            <a:r>
              <a:rPr lang="en-US" sz="2400" dirty="0" err="1">
                <a:solidFill>
                  <a:schemeClr val="tx1"/>
                </a:solidFill>
                <a:latin typeface="Cambria" panose="02040503050406030204" pitchFamily="18" charset="0"/>
                <a:ea typeface="Cambria" panose="02040503050406030204" pitchFamily="18" charset="0"/>
              </a:rPr>
              <a:t>resilienceMajor</a:t>
            </a:r>
            <a:r>
              <a:rPr lang="en-US" sz="2400" dirty="0">
                <a:solidFill>
                  <a:schemeClr val="tx1"/>
                </a:solidFill>
                <a:latin typeface="Cambria" panose="02040503050406030204" pitchFamily="18" charset="0"/>
                <a:ea typeface="Cambria" panose="02040503050406030204" pitchFamily="18" charset="0"/>
              </a:rPr>
              <a:t> Components of Heat Wave Recovery</a:t>
            </a:r>
          </a:p>
        </p:txBody>
      </p:sp>
    </p:spTree>
    <p:extLst>
      <p:ext uri="{BB962C8B-B14F-4D97-AF65-F5344CB8AC3E}">
        <p14:creationId xmlns:p14="http://schemas.microsoft.com/office/powerpoint/2010/main" val="2099338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527539"/>
            <a:ext cx="9083661" cy="5890846"/>
          </a:xfrm>
          <a:ln>
            <a:solidFill>
              <a:schemeClr val="accent1"/>
            </a:solidFill>
          </a:ln>
        </p:spPr>
        <p:txBody>
          <a:bodyPr>
            <a:noAutofit/>
          </a:bodyPr>
          <a:lstStyle/>
          <a:p>
            <a:pPr algn="just">
              <a:spcBef>
                <a:spcPts val="0"/>
              </a:spcBef>
            </a:pPr>
            <a:r>
              <a:rPr lang="en-US" sz="2800" dirty="0">
                <a:solidFill>
                  <a:srgbClr val="C00000"/>
                </a:solidFill>
                <a:latin typeface="Cambria" panose="02040503050406030204" pitchFamily="18" charset="0"/>
                <a:ea typeface="Cambria" panose="02040503050406030204" pitchFamily="18" charset="0"/>
              </a:rPr>
              <a:t>1. Health Recovery </a:t>
            </a:r>
            <a:r>
              <a:rPr lang="en-US" sz="2800" dirty="0">
                <a:solidFill>
                  <a:schemeClr val="tx1"/>
                </a:solidFill>
                <a:latin typeface="Cambria" panose="02040503050406030204" pitchFamily="18" charset="0"/>
                <a:ea typeface="Cambria" panose="02040503050406030204" pitchFamily="18" charset="0"/>
              </a:rPr>
              <a:t>Treatment of heat stroke patients Follow-up care for vulnerable persons Psychological support Monitoring post-heat illnesses Example Hospitals continue treatment of dehydration and kidney-related illnesses caused by extreme heat.</a:t>
            </a:r>
          </a:p>
          <a:p>
            <a:pPr algn="just">
              <a:spcBef>
                <a:spcPts val="0"/>
              </a:spcBef>
            </a:pPr>
            <a:endParaRPr lang="en-US" dirty="0">
              <a:solidFill>
                <a:schemeClr val="tx1"/>
              </a:solidFill>
              <a:latin typeface="Cambria" panose="02040503050406030204" pitchFamily="18" charset="0"/>
              <a:ea typeface="Cambria" panose="02040503050406030204" pitchFamily="18" charset="0"/>
            </a:endParaRPr>
          </a:p>
          <a:p>
            <a:pPr algn="just">
              <a:spcBef>
                <a:spcPts val="0"/>
              </a:spcBef>
            </a:pPr>
            <a:r>
              <a:rPr lang="en-US" sz="2800" dirty="0">
                <a:solidFill>
                  <a:srgbClr val="C00000"/>
                </a:solidFill>
                <a:latin typeface="Cambria" panose="02040503050406030204" pitchFamily="18" charset="0"/>
                <a:ea typeface="Cambria" panose="02040503050406030204" pitchFamily="18" charset="0"/>
              </a:rPr>
              <a:t>2. Restoration </a:t>
            </a:r>
            <a:r>
              <a:rPr lang="en-US" sz="2800" dirty="0">
                <a:solidFill>
                  <a:schemeClr val="tx1"/>
                </a:solidFill>
                <a:latin typeface="Cambria" panose="02040503050406030204" pitchFamily="18" charset="0"/>
                <a:ea typeface="Cambria" panose="02040503050406030204" pitchFamily="18" charset="0"/>
              </a:rPr>
              <a:t>of Essential Services Drinking water supply restoration Repair of damaged power systems Restoration of public transport and communication.</a:t>
            </a:r>
          </a:p>
          <a:p>
            <a:pPr algn="just">
              <a:spcBef>
                <a:spcPts val="0"/>
              </a:spcBef>
            </a:pPr>
            <a:endParaRPr lang="en-US" sz="1600" dirty="0">
              <a:solidFill>
                <a:schemeClr val="tx1"/>
              </a:solidFill>
              <a:latin typeface="Cambria" panose="02040503050406030204" pitchFamily="18" charset="0"/>
              <a:ea typeface="Cambria" panose="02040503050406030204" pitchFamily="18" charset="0"/>
            </a:endParaRPr>
          </a:p>
          <a:p>
            <a:pPr algn="just">
              <a:spcBef>
                <a:spcPts val="0"/>
              </a:spcBef>
            </a:pPr>
            <a:r>
              <a:rPr lang="en-US" sz="2800" dirty="0">
                <a:solidFill>
                  <a:srgbClr val="C00000"/>
                </a:solidFill>
                <a:latin typeface="Cambria" panose="02040503050406030204" pitchFamily="18" charset="0"/>
                <a:ea typeface="Cambria" panose="02040503050406030204" pitchFamily="18" charset="0"/>
              </a:rPr>
              <a:t>3. Livelihood Recovery </a:t>
            </a:r>
            <a:r>
              <a:rPr lang="en-US" sz="2800" dirty="0">
                <a:solidFill>
                  <a:schemeClr val="tx1"/>
                </a:solidFill>
                <a:latin typeface="Cambria" panose="02040503050406030204" pitchFamily="18" charset="0"/>
                <a:ea typeface="Cambria" panose="02040503050406030204" pitchFamily="18" charset="0"/>
              </a:rPr>
              <a:t>Heat waves </a:t>
            </a:r>
            <a:r>
              <a:rPr lang="en-US" sz="2800" dirty="0" err="1">
                <a:solidFill>
                  <a:schemeClr val="tx1"/>
                </a:solidFill>
                <a:latin typeface="Cambria" panose="02040503050406030204" pitchFamily="18" charset="0"/>
                <a:ea typeface="Cambria" panose="02040503050406030204" pitchFamily="18" charset="0"/>
              </a:rPr>
              <a:t>affect:Farmers</a:t>
            </a:r>
            <a:r>
              <a:rPr lang="en-US" sz="2800" dirty="0">
                <a:solidFill>
                  <a:schemeClr val="tx1"/>
                </a:solidFill>
                <a:latin typeface="Cambria" panose="02040503050406030204" pitchFamily="18" charset="0"/>
                <a:ea typeface="Cambria" panose="02040503050406030204" pitchFamily="18" charset="0"/>
              </a:rPr>
              <a:t> Construction workers Daily wage earners Street vendors Recovery measures </a:t>
            </a:r>
            <a:r>
              <a:rPr lang="en-US" sz="2800" dirty="0" err="1">
                <a:solidFill>
                  <a:schemeClr val="tx1"/>
                </a:solidFill>
                <a:latin typeface="Cambria" panose="02040503050406030204" pitchFamily="18" charset="0"/>
                <a:ea typeface="Cambria" panose="02040503050406030204" pitchFamily="18" charset="0"/>
              </a:rPr>
              <a:t>include:Financial</a:t>
            </a:r>
            <a:r>
              <a:rPr lang="en-US" sz="2800" dirty="0">
                <a:solidFill>
                  <a:schemeClr val="tx1"/>
                </a:solidFill>
                <a:latin typeface="Cambria" panose="02040503050406030204" pitchFamily="18" charset="0"/>
                <a:ea typeface="Cambria" panose="02040503050406030204" pitchFamily="18" charset="0"/>
              </a:rPr>
              <a:t> assistance Employment support Agricultural support.</a:t>
            </a:r>
          </a:p>
        </p:txBody>
      </p:sp>
    </p:spTree>
    <p:extLst>
      <p:ext uri="{BB962C8B-B14F-4D97-AF65-F5344CB8AC3E}">
        <p14:creationId xmlns:p14="http://schemas.microsoft.com/office/powerpoint/2010/main" val="1739670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527539"/>
            <a:ext cx="9083661" cy="5890846"/>
          </a:xfrm>
          <a:ln>
            <a:solidFill>
              <a:schemeClr val="accent1"/>
            </a:solidFill>
          </a:ln>
        </p:spPr>
        <p:txBody>
          <a:bodyPr>
            <a:noAutofit/>
          </a:bodyPr>
          <a:lstStyle/>
          <a:p>
            <a:pPr algn="just">
              <a:spcBef>
                <a:spcPts val="0"/>
              </a:spcBef>
            </a:pPr>
            <a:r>
              <a:rPr lang="en-US" sz="3200" dirty="0">
                <a:solidFill>
                  <a:srgbClr val="C00000"/>
                </a:solidFill>
                <a:latin typeface="Cambria" panose="02040503050406030204" pitchFamily="18" charset="0"/>
                <a:ea typeface="Cambria" panose="02040503050406030204" pitchFamily="18" charset="0"/>
              </a:rPr>
              <a:t>4. Agricultural Recovery </a:t>
            </a:r>
            <a:r>
              <a:rPr lang="en-US" sz="3200" dirty="0">
                <a:solidFill>
                  <a:schemeClr val="tx1"/>
                </a:solidFill>
                <a:latin typeface="Cambria" panose="02040503050406030204" pitchFamily="18" charset="0"/>
                <a:ea typeface="Cambria" panose="02040503050406030204" pitchFamily="18" charset="0"/>
              </a:rPr>
              <a:t>Extreme heat </a:t>
            </a:r>
            <a:r>
              <a:rPr lang="en-US" sz="3200" dirty="0" err="1">
                <a:solidFill>
                  <a:schemeClr val="tx1"/>
                </a:solidFill>
                <a:latin typeface="Cambria" panose="02040503050406030204" pitchFamily="18" charset="0"/>
                <a:ea typeface="Cambria" panose="02040503050406030204" pitchFamily="18" charset="0"/>
              </a:rPr>
              <a:t>damages:Crops</a:t>
            </a:r>
            <a:r>
              <a:rPr lang="en-US" sz="3200" dirty="0">
                <a:solidFill>
                  <a:schemeClr val="tx1"/>
                </a:solidFill>
                <a:latin typeface="Cambria" panose="02040503050406030204" pitchFamily="18" charset="0"/>
                <a:ea typeface="Cambria" panose="02040503050406030204" pitchFamily="18" charset="0"/>
              </a:rPr>
              <a:t> </a:t>
            </a:r>
            <a:r>
              <a:rPr lang="en-US" sz="3200" dirty="0" err="1">
                <a:solidFill>
                  <a:schemeClr val="tx1"/>
                </a:solidFill>
                <a:latin typeface="Cambria" panose="02040503050406030204" pitchFamily="18" charset="0"/>
                <a:ea typeface="Cambria" panose="02040503050406030204" pitchFamily="18" charset="0"/>
              </a:rPr>
              <a:t>LivestockSoil</a:t>
            </a:r>
            <a:r>
              <a:rPr lang="en-US" sz="3200" dirty="0">
                <a:solidFill>
                  <a:schemeClr val="tx1"/>
                </a:solidFill>
                <a:latin typeface="Cambria" panose="02040503050406030204" pitchFamily="18" charset="0"/>
                <a:ea typeface="Cambria" panose="02040503050406030204" pitchFamily="18" charset="0"/>
              </a:rPr>
              <a:t> moisture Recovery </a:t>
            </a:r>
            <a:r>
              <a:rPr lang="en-US" sz="3200" dirty="0" err="1">
                <a:solidFill>
                  <a:schemeClr val="tx1"/>
                </a:solidFill>
                <a:latin typeface="Cambria" panose="02040503050406030204" pitchFamily="18" charset="0"/>
                <a:ea typeface="Cambria" panose="02040503050406030204" pitchFamily="18" charset="0"/>
              </a:rPr>
              <a:t>actions:Crop</a:t>
            </a:r>
            <a:r>
              <a:rPr lang="en-US" sz="3200" dirty="0">
                <a:solidFill>
                  <a:schemeClr val="tx1"/>
                </a:solidFill>
                <a:latin typeface="Cambria" panose="02040503050406030204" pitchFamily="18" charset="0"/>
                <a:ea typeface="Cambria" panose="02040503050406030204" pitchFamily="18" charset="0"/>
              </a:rPr>
              <a:t> compensation Drought-resistant seeds Irrigation support Veterinary services.</a:t>
            </a:r>
          </a:p>
          <a:p>
            <a:pPr algn="just">
              <a:spcBef>
                <a:spcPts val="0"/>
              </a:spcBef>
            </a:pPr>
            <a:endParaRPr lang="en-US" sz="2800" dirty="0">
              <a:solidFill>
                <a:schemeClr val="tx1"/>
              </a:solidFill>
              <a:latin typeface="Cambria" panose="02040503050406030204" pitchFamily="18" charset="0"/>
              <a:ea typeface="Cambria" panose="02040503050406030204" pitchFamily="18" charset="0"/>
            </a:endParaRPr>
          </a:p>
          <a:p>
            <a:pPr algn="just">
              <a:spcBef>
                <a:spcPts val="0"/>
              </a:spcBef>
            </a:pPr>
            <a:r>
              <a:rPr lang="en-US" sz="3200" dirty="0">
                <a:solidFill>
                  <a:srgbClr val="C00000"/>
                </a:solidFill>
                <a:latin typeface="Cambria" panose="02040503050406030204" pitchFamily="18" charset="0"/>
                <a:ea typeface="Cambria" panose="02040503050406030204" pitchFamily="18" charset="0"/>
              </a:rPr>
              <a:t>5. Infrastructure Improvement</a:t>
            </a:r>
            <a:r>
              <a:rPr lang="en-US" sz="3200" dirty="0">
                <a:solidFill>
                  <a:schemeClr val="tx1"/>
                </a:solidFill>
                <a:latin typeface="Cambria" panose="02040503050406030204" pitchFamily="18" charset="0"/>
                <a:ea typeface="Cambria" panose="02040503050406030204" pitchFamily="18" charset="0"/>
              </a:rPr>
              <a:t> Recovery also includes improving infrastructure to withstand future heat </a:t>
            </a:r>
            <a:r>
              <a:rPr lang="en-US" sz="3200" dirty="0" err="1">
                <a:solidFill>
                  <a:schemeClr val="tx1"/>
                </a:solidFill>
                <a:latin typeface="Cambria" panose="02040503050406030204" pitchFamily="18" charset="0"/>
                <a:ea typeface="Cambria" panose="02040503050406030204" pitchFamily="18" charset="0"/>
              </a:rPr>
              <a:t>waves:Cool</a:t>
            </a:r>
            <a:r>
              <a:rPr lang="en-US" sz="3200" dirty="0">
                <a:solidFill>
                  <a:schemeClr val="tx1"/>
                </a:solidFill>
                <a:latin typeface="Cambria" panose="02040503050406030204" pitchFamily="18" charset="0"/>
                <a:ea typeface="Cambria" panose="02040503050406030204" pitchFamily="18" charset="0"/>
              </a:rPr>
              <a:t> roofs Urban greening Shade structures Heat-resistant buildings</a:t>
            </a:r>
          </a:p>
        </p:txBody>
      </p:sp>
    </p:spTree>
    <p:extLst>
      <p:ext uri="{BB962C8B-B14F-4D97-AF65-F5344CB8AC3E}">
        <p14:creationId xmlns:p14="http://schemas.microsoft.com/office/powerpoint/2010/main" val="3249886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527539"/>
            <a:ext cx="9083661" cy="5890846"/>
          </a:xfrm>
          <a:ln>
            <a:solidFill>
              <a:schemeClr val="accent1"/>
            </a:solidFill>
          </a:ln>
        </p:spPr>
        <p:txBody>
          <a:bodyPr>
            <a:noAutofit/>
          </a:bodyPr>
          <a:lstStyle/>
          <a:p>
            <a:pPr algn="just">
              <a:spcBef>
                <a:spcPts val="0"/>
              </a:spcBef>
            </a:pPr>
            <a:r>
              <a:rPr lang="en-US" sz="2400" dirty="0">
                <a:solidFill>
                  <a:srgbClr val="C00000"/>
                </a:solidFill>
                <a:latin typeface="Cambria" panose="02040503050406030204" pitchFamily="18" charset="0"/>
                <a:ea typeface="Cambria" panose="02040503050406030204" pitchFamily="18" charset="0"/>
              </a:rPr>
              <a:t>6. Community Recovery Public </a:t>
            </a:r>
            <a:r>
              <a:rPr lang="en-US" sz="2400" dirty="0">
                <a:solidFill>
                  <a:schemeClr val="tx1"/>
                </a:solidFill>
                <a:latin typeface="Cambria" panose="02040503050406030204" pitchFamily="18" charset="0"/>
                <a:ea typeface="Cambria" panose="02040503050406030204" pitchFamily="18" charset="0"/>
              </a:rPr>
              <a:t>awareness programs Review of Heat Action Plans Strengthening local preparedness Community training Example of Heat Wave Recovery After a severe heat </a:t>
            </a:r>
            <a:r>
              <a:rPr lang="en-US" sz="2400" dirty="0" err="1">
                <a:solidFill>
                  <a:schemeClr val="tx1"/>
                </a:solidFill>
                <a:latin typeface="Cambria" panose="02040503050406030204" pitchFamily="18" charset="0"/>
                <a:ea typeface="Cambria" panose="02040503050406030204" pitchFamily="18" charset="0"/>
              </a:rPr>
              <a:t>wave:Government</a:t>
            </a:r>
            <a:r>
              <a:rPr lang="en-US" sz="2400" dirty="0">
                <a:solidFill>
                  <a:schemeClr val="tx1"/>
                </a:solidFill>
                <a:latin typeface="Cambria" panose="02040503050406030204" pitchFamily="18" charset="0"/>
                <a:ea typeface="Cambria" panose="02040503050406030204" pitchFamily="18" charset="0"/>
              </a:rPr>
              <a:t> assesses deaths and damages Hospitals review emergency response Water supply systems are improved Compensation may be provided Heat shelters and cooling centers are planned for future use Difference Between Heat Wave Response and Recovery Response Recovery Immediate action during heat wave Restoration after heat wave Focus on saving lives Focus on returning to normal Emergency medical aid Long-term health support Water distribution Infrastructure and livelihood restoration Short-term Medium- and long-term NDMA Perspective According to National Disaster Management Authority guidelines, recovery should aim not only to restore normal conditions but also </a:t>
            </a:r>
            <a:r>
              <a:rPr lang="en-US" sz="2400" dirty="0" err="1">
                <a:solidFill>
                  <a:schemeClr val="tx1"/>
                </a:solidFill>
                <a:latin typeface="Cambria" panose="02040503050406030204" pitchFamily="18" charset="0"/>
                <a:ea typeface="Cambria" panose="02040503050406030204" pitchFamily="18" charset="0"/>
              </a:rPr>
              <a:t>to:Build</a:t>
            </a:r>
            <a:r>
              <a:rPr lang="en-US" sz="2400" dirty="0">
                <a:solidFill>
                  <a:schemeClr val="tx1"/>
                </a:solidFill>
                <a:latin typeface="Cambria" panose="02040503050406030204" pitchFamily="18" charset="0"/>
                <a:ea typeface="Cambria" panose="02040503050406030204" pitchFamily="18" charset="0"/>
              </a:rPr>
              <a:t> climate resilience Reduce future heat risks Improve preparedness systems.</a:t>
            </a:r>
          </a:p>
        </p:txBody>
      </p:sp>
    </p:spTree>
    <p:extLst>
      <p:ext uri="{BB962C8B-B14F-4D97-AF65-F5344CB8AC3E}">
        <p14:creationId xmlns:p14="http://schemas.microsoft.com/office/powerpoint/2010/main" val="3103832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a:xfrm>
            <a:off x="1494692" y="277907"/>
            <a:ext cx="9641737" cy="592531"/>
          </a:xfrm>
        </p:spPr>
        <p:txBody>
          <a:bodyPr>
            <a:noAutofit/>
          </a:bodyPr>
          <a:lstStyle/>
          <a:p>
            <a:pPr algn="ctr"/>
            <a:r>
              <a:rPr lang="en-US" sz="3200" b="1" u="sng" dirty="0">
                <a:solidFill>
                  <a:srgbClr val="7030A0"/>
                </a:solidFill>
                <a:latin typeface="Cambria" panose="02040503050406030204" pitchFamily="18" charset="0"/>
                <a:ea typeface="Cambria" panose="02040503050406030204" pitchFamily="18" charset="0"/>
              </a:rPr>
              <a:t>The future challenges of heat waves in India</a:t>
            </a:r>
            <a:endParaRPr lang="en-IN" sz="3200" b="1" u="sng" dirty="0">
              <a:solidFill>
                <a:srgbClr val="7030A0"/>
              </a:solidFill>
              <a:latin typeface="Cambria" panose="02040503050406030204" pitchFamily="18" charset="0"/>
              <a:ea typeface="Cambria" panose="02040503050406030204" pitchFamily="18" charset="0"/>
            </a:endParaRPr>
          </a:p>
        </p:txBody>
      </p:sp>
      <p:sp>
        <p:nvSpPr>
          <p:cNvPr id="1048587" name="Subtitle 2"/>
          <p:cNvSpPr>
            <a:spLocks noGrp="1"/>
          </p:cNvSpPr>
          <p:nvPr>
            <p:ph type="subTitle" idx="1"/>
          </p:nvPr>
        </p:nvSpPr>
        <p:spPr>
          <a:xfrm>
            <a:off x="1766046" y="943277"/>
            <a:ext cx="9083661" cy="5727030"/>
          </a:xfrm>
          <a:ln>
            <a:solidFill>
              <a:schemeClr val="accent1"/>
            </a:solidFill>
          </a:ln>
        </p:spPr>
        <p:txBody>
          <a:bodyPr>
            <a:noAutofit/>
          </a:bodyPr>
          <a:lstStyle/>
          <a:p>
            <a:pPr algn="just">
              <a:lnSpc>
                <a:spcPct val="120000"/>
              </a:lnSpc>
              <a:spcAft>
                <a:spcPts val="800"/>
              </a:spcAft>
            </a:pPr>
            <a:r>
              <a:rPr lang="en-US" sz="3600" dirty="0">
                <a:solidFill>
                  <a:schemeClr val="tx1"/>
                </a:solidFill>
                <a:latin typeface="Cambria" panose="02040503050406030204" pitchFamily="18" charset="0"/>
                <a:ea typeface="Cambria" panose="02040503050406030204" pitchFamily="18" charset="0"/>
              </a:rPr>
              <a:t>The future challenges of heat waves in India are expected to become more serious because of climate change, rapid urbanization, population growth, and environmental degradation. India is already experiencing earlier, longer, and more intense heat waves, and experts warn that the coming decades may be even more challenging. </a:t>
            </a:r>
          </a:p>
        </p:txBody>
      </p:sp>
    </p:spTree>
    <p:extLst>
      <p:ext uri="{BB962C8B-B14F-4D97-AF65-F5344CB8AC3E}">
        <p14:creationId xmlns:p14="http://schemas.microsoft.com/office/powerpoint/2010/main" val="1149204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33137"/>
            <a:ext cx="9083661" cy="6237170"/>
          </a:xfrm>
          <a:ln>
            <a:solidFill>
              <a:schemeClr val="accent1"/>
            </a:solidFill>
          </a:ln>
        </p:spPr>
        <p:txBody>
          <a:bodyPr>
            <a:noAutofit/>
          </a:bodyPr>
          <a:lstStyle/>
          <a:p>
            <a:pPr algn="just">
              <a:lnSpc>
                <a:spcPct val="120000"/>
              </a:lnSpc>
              <a:spcAft>
                <a:spcPts val="800"/>
              </a:spcAft>
            </a:pPr>
            <a:r>
              <a:rPr lang="en-US" sz="2400" dirty="0">
                <a:solidFill>
                  <a:srgbClr val="C00000"/>
                </a:solidFill>
                <a:latin typeface="Cambria" panose="02040503050406030204" pitchFamily="18" charset="0"/>
                <a:ea typeface="Cambria" panose="02040503050406030204" pitchFamily="18" charset="0"/>
              </a:rPr>
              <a:t>Major Future Challenges of Heat Waves in India</a:t>
            </a:r>
          </a:p>
          <a:p>
            <a:pPr algn="just">
              <a:lnSpc>
                <a:spcPct val="120000"/>
              </a:lnSpc>
              <a:spcAft>
                <a:spcPts val="800"/>
              </a:spcAft>
            </a:pPr>
            <a:r>
              <a:rPr lang="en-US" sz="2400" dirty="0">
                <a:solidFill>
                  <a:srgbClr val="C00000"/>
                </a:solidFill>
                <a:latin typeface="Cambria" panose="02040503050406030204" pitchFamily="18" charset="0"/>
                <a:ea typeface="Cambria" panose="02040503050406030204" pitchFamily="18" charset="0"/>
              </a:rPr>
              <a:t>1. Rising Temperatures </a:t>
            </a:r>
            <a:r>
              <a:rPr lang="en-US" sz="2400" dirty="0">
                <a:solidFill>
                  <a:schemeClr val="tx1"/>
                </a:solidFill>
                <a:latin typeface="Cambria" panose="02040503050406030204" pitchFamily="18" charset="0"/>
                <a:ea typeface="Cambria" panose="02040503050406030204" pitchFamily="18" charset="0"/>
              </a:rPr>
              <a:t>Due to Climate Change Global warming is increasing average temperatures across India. Heat waves are </a:t>
            </a:r>
            <a:r>
              <a:rPr lang="en-US" sz="2400" dirty="0" err="1">
                <a:solidFill>
                  <a:schemeClr val="tx1"/>
                </a:solidFill>
                <a:latin typeface="Cambria" panose="02040503050406030204" pitchFamily="18" charset="0"/>
                <a:ea typeface="Cambria" panose="02040503050406030204" pitchFamily="18" charset="0"/>
              </a:rPr>
              <a:t>becoming:More</a:t>
            </a:r>
            <a:r>
              <a:rPr lang="en-US" sz="2400" dirty="0">
                <a:solidFill>
                  <a:schemeClr val="tx1"/>
                </a:solidFill>
                <a:latin typeface="Cambria" panose="02040503050406030204" pitchFamily="18" charset="0"/>
                <a:ea typeface="Cambria" panose="02040503050406030204" pitchFamily="18" charset="0"/>
              </a:rPr>
              <a:t> frequent Longer in duration More intense Studies indicate that heatwave days in India may increase significantly in the future. </a:t>
            </a:r>
          </a:p>
          <a:p>
            <a:pPr algn="just">
              <a:lnSpc>
                <a:spcPct val="120000"/>
              </a:lnSpc>
              <a:spcAft>
                <a:spcPts val="800"/>
              </a:spcAft>
            </a:pPr>
            <a:r>
              <a:rPr lang="en-US" sz="2400" dirty="0">
                <a:solidFill>
                  <a:srgbClr val="C00000"/>
                </a:solidFill>
                <a:latin typeface="Cambria" panose="02040503050406030204" pitchFamily="18" charset="0"/>
                <a:ea typeface="Cambria" panose="02040503050406030204" pitchFamily="18" charset="0"/>
              </a:rPr>
              <a:t>2. Urban Heat Island Effect </a:t>
            </a:r>
            <a:r>
              <a:rPr lang="en-US" sz="2400" dirty="0">
                <a:solidFill>
                  <a:schemeClr val="tx1"/>
                </a:solidFill>
                <a:latin typeface="Cambria" panose="02040503050406030204" pitchFamily="18" charset="0"/>
                <a:ea typeface="Cambria" panose="02040503050406030204" pitchFamily="18" charset="0"/>
              </a:rPr>
              <a:t>Cities absorb and retain more heat because </a:t>
            </a:r>
            <a:r>
              <a:rPr lang="en-US" sz="2400" dirty="0" err="1">
                <a:solidFill>
                  <a:schemeClr val="tx1"/>
                </a:solidFill>
                <a:latin typeface="Cambria" panose="02040503050406030204" pitchFamily="18" charset="0"/>
                <a:ea typeface="Cambria" panose="02040503050406030204" pitchFamily="18" charset="0"/>
              </a:rPr>
              <a:t>of:Concrete</a:t>
            </a:r>
            <a:r>
              <a:rPr lang="en-US" sz="2400" dirty="0">
                <a:solidFill>
                  <a:schemeClr val="tx1"/>
                </a:solidFill>
                <a:latin typeface="Cambria" panose="02040503050406030204" pitchFamily="18" charset="0"/>
                <a:ea typeface="Cambria" panose="02040503050406030204" pitchFamily="18" charset="0"/>
              </a:rPr>
              <a:t> buildings Asphalt roads Reduced green cover Air pollution Urban areas remain hot even during nights, increasing heat stress and health risks. Higher electricity demand Sleep disturbance Heat stress in slums and dense settlements Increased mortality among vulnerable populations</a:t>
            </a:r>
          </a:p>
        </p:txBody>
      </p:sp>
    </p:spTree>
    <p:extLst>
      <p:ext uri="{BB962C8B-B14F-4D97-AF65-F5344CB8AC3E}">
        <p14:creationId xmlns:p14="http://schemas.microsoft.com/office/powerpoint/2010/main" val="1879386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33137"/>
            <a:ext cx="9083661" cy="6237170"/>
          </a:xfrm>
          <a:ln>
            <a:solidFill>
              <a:schemeClr val="accent1"/>
            </a:solidFill>
          </a:ln>
        </p:spPr>
        <p:txBody>
          <a:bodyPr>
            <a:noAutofit/>
          </a:bodyPr>
          <a:lstStyle/>
          <a:p>
            <a:pPr algn="just">
              <a:lnSpc>
                <a:spcPct val="120000"/>
              </a:lnSpc>
              <a:spcAft>
                <a:spcPts val="800"/>
              </a:spcAft>
            </a:pPr>
            <a:r>
              <a:rPr lang="en-US" sz="2400" dirty="0">
                <a:solidFill>
                  <a:srgbClr val="C00000"/>
                </a:solidFill>
                <a:latin typeface="Cambria" panose="02040503050406030204" pitchFamily="18" charset="0"/>
                <a:ea typeface="Cambria" panose="02040503050406030204" pitchFamily="18" charset="0"/>
              </a:rPr>
              <a:t>3. Water Scarcity Future </a:t>
            </a:r>
            <a:r>
              <a:rPr lang="en-US" sz="2400" dirty="0">
                <a:solidFill>
                  <a:schemeClr val="tx1"/>
                </a:solidFill>
                <a:latin typeface="Cambria" panose="02040503050406030204" pitchFamily="18" charset="0"/>
                <a:ea typeface="Cambria" panose="02040503050406030204" pitchFamily="18" charset="0"/>
              </a:rPr>
              <a:t>heat waves will </a:t>
            </a:r>
            <a:r>
              <a:rPr lang="en-US" sz="2400" dirty="0" err="1">
                <a:solidFill>
                  <a:schemeClr val="tx1"/>
                </a:solidFill>
                <a:latin typeface="Cambria" panose="02040503050406030204" pitchFamily="18" charset="0"/>
                <a:ea typeface="Cambria" panose="02040503050406030204" pitchFamily="18" charset="0"/>
              </a:rPr>
              <a:t>worsen:Drought</a:t>
            </a:r>
            <a:r>
              <a:rPr lang="en-US" sz="2400" dirty="0">
                <a:solidFill>
                  <a:schemeClr val="tx1"/>
                </a:solidFill>
                <a:latin typeface="Cambria" panose="02040503050406030204" pitchFamily="18" charset="0"/>
                <a:ea typeface="Cambria" panose="02040503050406030204" pitchFamily="18" charset="0"/>
              </a:rPr>
              <a:t> conditions Groundwater depletion Drinking water shortages Heat and drought together are becoming a major compound disaster in many Indian cities. </a:t>
            </a:r>
          </a:p>
          <a:p>
            <a:pPr algn="just">
              <a:lnSpc>
                <a:spcPct val="120000"/>
              </a:lnSpc>
              <a:spcAft>
                <a:spcPts val="800"/>
              </a:spcAft>
            </a:pPr>
            <a:r>
              <a:rPr lang="en-US" sz="2400" dirty="0">
                <a:solidFill>
                  <a:srgbClr val="C00000"/>
                </a:solidFill>
                <a:latin typeface="Cambria" panose="02040503050406030204" pitchFamily="18" charset="0"/>
                <a:ea typeface="Cambria" panose="02040503050406030204" pitchFamily="18" charset="0"/>
              </a:rPr>
              <a:t>4. Threat to Public Health Heat </a:t>
            </a:r>
            <a:r>
              <a:rPr lang="en-US" sz="2400" dirty="0">
                <a:solidFill>
                  <a:schemeClr val="tx1"/>
                </a:solidFill>
                <a:latin typeface="Cambria" panose="02040503050406030204" pitchFamily="18" charset="0"/>
                <a:ea typeface="Cambria" panose="02040503050406030204" pitchFamily="18" charset="0"/>
              </a:rPr>
              <a:t>waves can lead </a:t>
            </a:r>
            <a:r>
              <a:rPr lang="en-US" sz="2400" dirty="0" err="1">
                <a:solidFill>
                  <a:schemeClr val="tx1"/>
                </a:solidFill>
                <a:latin typeface="Cambria" panose="02040503050406030204" pitchFamily="18" charset="0"/>
                <a:ea typeface="Cambria" panose="02040503050406030204" pitchFamily="18" charset="0"/>
              </a:rPr>
              <a:t>to:Heat</a:t>
            </a:r>
            <a:r>
              <a:rPr lang="en-US" sz="2400" dirty="0">
                <a:solidFill>
                  <a:schemeClr val="tx1"/>
                </a:solidFill>
                <a:latin typeface="Cambria" panose="02040503050406030204" pitchFamily="18" charset="0"/>
                <a:ea typeface="Cambria" panose="02040503050406030204" pitchFamily="18" charset="0"/>
              </a:rPr>
              <a:t> exhaustion Heat stroke Dehydration Kidney problems Cardiovascular stress Children, elderly persons, outdoor workers, and poor communities are at highest risk. Humid “oppressive heatwaves” are expected to increase and may become more dangerous than dry heat waves. </a:t>
            </a:r>
          </a:p>
          <a:p>
            <a:pPr algn="just">
              <a:lnSpc>
                <a:spcPct val="120000"/>
              </a:lnSpc>
              <a:spcAft>
                <a:spcPts val="800"/>
              </a:spcAft>
            </a:pPr>
            <a:r>
              <a:rPr lang="en-US" sz="2400" dirty="0">
                <a:solidFill>
                  <a:srgbClr val="C00000"/>
                </a:solidFill>
                <a:latin typeface="Cambria" panose="02040503050406030204" pitchFamily="18" charset="0"/>
                <a:ea typeface="Cambria" panose="02040503050406030204" pitchFamily="18" charset="0"/>
              </a:rPr>
              <a:t>5. Pressure on Healthcare </a:t>
            </a:r>
            <a:r>
              <a:rPr lang="en-US" sz="2400" dirty="0">
                <a:solidFill>
                  <a:schemeClr val="tx1"/>
                </a:solidFill>
                <a:latin typeface="Cambria" panose="02040503050406030204" pitchFamily="18" charset="0"/>
                <a:ea typeface="Cambria" panose="02040503050406030204" pitchFamily="18" charset="0"/>
              </a:rPr>
              <a:t>Systems Hospitals may </a:t>
            </a:r>
            <a:r>
              <a:rPr lang="en-US" sz="2400" dirty="0" err="1">
                <a:solidFill>
                  <a:schemeClr val="tx1"/>
                </a:solidFill>
                <a:latin typeface="Cambria" panose="02040503050406030204" pitchFamily="18" charset="0"/>
                <a:ea typeface="Cambria" panose="02040503050406030204" pitchFamily="18" charset="0"/>
              </a:rPr>
              <a:t>face:Increase</a:t>
            </a:r>
            <a:r>
              <a:rPr lang="en-US" sz="2400" dirty="0">
                <a:solidFill>
                  <a:schemeClr val="tx1"/>
                </a:solidFill>
                <a:latin typeface="Cambria" panose="02040503050406030204" pitchFamily="18" charset="0"/>
                <a:ea typeface="Cambria" panose="02040503050406030204" pitchFamily="18" charset="0"/>
              </a:rPr>
              <a:t> in heatstroke cases Lack of cooling facilities Power shortages Medicine shortages India’s Health Ministry has already warned states to strengthen heatstroke management systems. </a:t>
            </a:r>
          </a:p>
        </p:txBody>
      </p:sp>
    </p:spTree>
    <p:extLst>
      <p:ext uri="{BB962C8B-B14F-4D97-AF65-F5344CB8AC3E}">
        <p14:creationId xmlns:p14="http://schemas.microsoft.com/office/powerpoint/2010/main" val="3874480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33137"/>
            <a:ext cx="9083661" cy="6237170"/>
          </a:xfrm>
          <a:ln>
            <a:solidFill>
              <a:schemeClr val="accent1"/>
            </a:solidFill>
          </a:ln>
        </p:spPr>
        <p:txBody>
          <a:bodyPr>
            <a:noAutofit/>
          </a:bodyPr>
          <a:lstStyle/>
          <a:p>
            <a:pPr algn="just">
              <a:lnSpc>
                <a:spcPct val="120000"/>
              </a:lnSpc>
              <a:spcAft>
                <a:spcPts val="800"/>
              </a:spcAft>
            </a:pPr>
            <a:r>
              <a:rPr lang="en-US" sz="2400" dirty="0">
                <a:solidFill>
                  <a:srgbClr val="C00000"/>
                </a:solidFill>
                <a:latin typeface="Cambria" panose="02040503050406030204" pitchFamily="18" charset="0"/>
                <a:ea typeface="Cambria" panose="02040503050406030204" pitchFamily="18" charset="0"/>
              </a:rPr>
              <a:t>6. Impact on Agriculture </a:t>
            </a:r>
            <a:r>
              <a:rPr lang="en-US" sz="2400" dirty="0">
                <a:solidFill>
                  <a:schemeClr val="tx1"/>
                </a:solidFill>
                <a:latin typeface="Cambria" panose="02040503050406030204" pitchFamily="18" charset="0"/>
                <a:ea typeface="Cambria" panose="02040503050406030204" pitchFamily="18" charset="0"/>
              </a:rPr>
              <a:t>and Food Security Extreme heat </a:t>
            </a:r>
            <a:r>
              <a:rPr lang="en-US" sz="2400" dirty="0" err="1">
                <a:solidFill>
                  <a:schemeClr val="tx1"/>
                </a:solidFill>
                <a:latin typeface="Cambria" panose="02040503050406030204" pitchFamily="18" charset="0"/>
                <a:ea typeface="Cambria" panose="02040503050406030204" pitchFamily="18" charset="0"/>
              </a:rPr>
              <a:t>affects:Crop</a:t>
            </a:r>
            <a:r>
              <a:rPr lang="en-US" sz="2400" dirty="0">
                <a:solidFill>
                  <a:schemeClr val="tx1"/>
                </a:solidFill>
                <a:latin typeface="Cambria" panose="02040503050406030204" pitchFamily="18" charset="0"/>
                <a:ea typeface="Cambria" panose="02040503050406030204" pitchFamily="18" charset="0"/>
              </a:rPr>
              <a:t> yields Soil moisture Livestock health Irrigation demand Farmers may suffer major economic losses because crops dry faster and water becomes scarce.</a:t>
            </a:r>
          </a:p>
          <a:p>
            <a:pPr algn="just">
              <a:lnSpc>
                <a:spcPct val="120000"/>
              </a:lnSpc>
              <a:spcAft>
                <a:spcPts val="800"/>
              </a:spcAft>
            </a:pPr>
            <a:r>
              <a:rPr lang="en-US" sz="2400" dirty="0">
                <a:solidFill>
                  <a:srgbClr val="C00000"/>
                </a:solidFill>
                <a:latin typeface="Cambria" panose="02040503050406030204" pitchFamily="18" charset="0"/>
                <a:ea typeface="Cambria" panose="02040503050406030204" pitchFamily="18" charset="0"/>
              </a:rPr>
              <a:t>7. </a:t>
            </a:r>
            <a:r>
              <a:rPr lang="en-US" sz="2400" dirty="0" err="1">
                <a:solidFill>
                  <a:srgbClr val="C00000"/>
                </a:solidFill>
                <a:latin typeface="Cambria" panose="02040503050406030204" pitchFamily="18" charset="0"/>
                <a:ea typeface="Cambria" panose="02040503050406030204" pitchFamily="18" charset="0"/>
              </a:rPr>
              <a:t>Labour</a:t>
            </a:r>
            <a:r>
              <a:rPr lang="en-US" sz="2400" dirty="0">
                <a:solidFill>
                  <a:srgbClr val="C00000"/>
                </a:solidFill>
                <a:latin typeface="Cambria" panose="02040503050406030204" pitchFamily="18" charset="0"/>
                <a:ea typeface="Cambria" panose="02040503050406030204" pitchFamily="18" charset="0"/>
              </a:rPr>
              <a:t> Productivity </a:t>
            </a:r>
            <a:r>
              <a:rPr lang="en-US" sz="2400" dirty="0">
                <a:solidFill>
                  <a:schemeClr val="tx1"/>
                </a:solidFill>
                <a:latin typeface="Cambria" panose="02040503050406030204" pitchFamily="18" charset="0"/>
                <a:ea typeface="Cambria" panose="02040503050406030204" pitchFamily="18" charset="0"/>
              </a:rPr>
              <a:t>Loss Outdoor workers such </a:t>
            </a:r>
            <a:r>
              <a:rPr lang="en-US" sz="2400" dirty="0" err="1">
                <a:solidFill>
                  <a:schemeClr val="tx1"/>
                </a:solidFill>
                <a:latin typeface="Cambria" panose="02040503050406030204" pitchFamily="18" charset="0"/>
                <a:ea typeface="Cambria" panose="02040503050406030204" pitchFamily="18" charset="0"/>
              </a:rPr>
              <a:t>as:Construction</a:t>
            </a:r>
            <a:r>
              <a:rPr lang="en-US" sz="2400" dirty="0">
                <a:solidFill>
                  <a:schemeClr val="tx1"/>
                </a:solidFill>
                <a:latin typeface="Cambria" panose="02040503050406030204" pitchFamily="18" charset="0"/>
                <a:ea typeface="Cambria" panose="02040503050406030204" pitchFamily="18" charset="0"/>
              </a:rPr>
              <a:t> workers Traffic police Farmers Sanitation workers may not be able to work safely during peak daytime heat. This reduces economic productivity and income. </a:t>
            </a:r>
          </a:p>
          <a:p>
            <a:pPr algn="just">
              <a:lnSpc>
                <a:spcPct val="120000"/>
              </a:lnSpc>
              <a:spcAft>
                <a:spcPts val="800"/>
              </a:spcAft>
            </a:pPr>
            <a:r>
              <a:rPr lang="en-US" sz="2400" dirty="0">
                <a:solidFill>
                  <a:srgbClr val="C00000"/>
                </a:solidFill>
                <a:latin typeface="Cambria" panose="02040503050406030204" pitchFamily="18" charset="0"/>
                <a:ea typeface="Cambria" panose="02040503050406030204" pitchFamily="18" charset="0"/>
              </a:rPr>
              <a:t>8. Increased Electricity </a:t>
            </a:r>
            <a:r>
              <a:rPr lang="en-US" sz="2400" dirty="0">
                <a:solidFill>
                  <a:schemeClr val="tx1"/>
                </a:solidFill>
                <a:latin typeface="Cambria" panose="02040503050406030204" pitchFamily="18" charset="0"/>
                <a:ea typeface="Cambria" panose="02040503050406030204" pitchFamily="18" charset="0"/>
              </a:rPr>
              <a:t>Demand Future heat waves will increase dependence </a:t>
            </a:r>
            <a:r>
              <a:rPr lang="en-US" sz="2400" dirty="0" err="1">
                <a:solidFill>
                  <a:schemeClr val="tx1"/>
                </a:solidFill>
                <a:latin typeface="Cambria" panose="02040503050406030204" pitchFamily="18" charset="0"/>
                <a:ea typeface="Cambria" panose="02040503050406030204" pitchFamily="18" charset="0"/>
              </a:rPr>
              <a:t>on:Air</a:t>
            </a:r>
            <a:r>
              <a:rPr lang="en-US" sz="2400" dirty="0">
                <a:solidFill>
                  <a:schemeClr val="tx1"/>
                </a:solidFill>
                <a:latin typeface="Cambria" panose="02040503050406030204" pitchFamily="18" charset="0"/>
                <a:ea typeface="Cambria" panose="02040503050406030204" pitchFamily="18" charset="0"/>
              </a:rPr>
              <a:t> conditioners Coolers Refrigeration systems This may lead </a:t>
            </a:r>
            <a:r>
              <a:rPr lang="en-US" sz="2400" dirty="0" err="1">
                <a:solidFill>
                  <a:schemeClr val="tx1"/>
                </a:solidFill>
                <a:latin typeface="Cambria" panose="02040503050406030204" pitchFamily="18" charset="0"/>
                <a:ea typeface="Cambria" panose="02040503050406030204" pitchFamily="18" charset="0"/>
              </a:rPr>
              <a:t>to:Power</a:t>
            </a:r>
            <a:r>
              <a:rPr lang="en-US" sz="2400" dirty="0">
                <a:solidFill>
                  <a:schemeClr val="tx1"/>
                </a:solidFill>
                <a:latin typeface="Cambria" panose="02040503050406030204" pitchFamily="18" charset="0"/>
                <a:ea typeface="Cambria" panose="02040503050406030204" pitchFamily="18" charset="0"/>
              </a:rPr>
              <a:t> shortages Grid failures Increased energy costs</a:t>
            </a:r>
          </a:p>
        </p:txBody>
      </p:sp>
    </p:spTree>
    <p:extLst>
      <p:ext uri="{BB962C8B-B14F-4D97-AF65-F5344CB8AC3E}">
        <p14:creationId xmlns:p14="http://schemas.microsoft.com/office/powerpoint/2010/main" val="395581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33137"/>
            <a:ext cx="9083661" cy="6237170"/>
          </a:xfrm>
          <a:ln>
            <a:solidFill>
              <a:schemeClr val="accent1"/>
            </a:solidFill>
          </a:ln>
        </p:spPr>
        <p:txBody>
          <a:bodyPr>
            <a:noAutofit/>
          </a:bodyPr>
          <a:lstStyle/>
          <a:p>
            <a:pPr algn="just">
              <a:lnSpc>
                <a:spcPct val="120000"/>
              </a:lnSpc>
              <a:spcAft>
                <a:spcPts val="800"/>
              </a:spcAft>
            </a:pPr>
            <a:endParaRPr lang="en-US" sz="2400" dirty="0">
              <a:solidFill>
                <a:srgbClr val="C00000"/>
              </a:solidFill>
              <a:latin typeface="Cambria" panose="02040503050406030204" pitchFamily="18" charset="0"/>
              <a:ea typeface="Cambria" panose="02040503050406030204" pitchFamily="18" charset="0"/>
            </a:endParaRPr>
          </a:p>
          <a:p>
            <a:pPr algn="just">
              <a:lnSpc>
                <a:spcPct val="120000"/>
              </a:lnSpc>
              <a:spcAft>
                <a:spcPts val="800"/>
              </a:spcAft>
            </a:pPr>
            <a:endParaRPr lang="en-US" sz="2400" dirty="0">
              <a:solidFill>
                <a:srgbClr val="C00000"/>
              </a:solidFill>
              <a:latin typeface="Cambria" panose="02040503050406030204" pitchFamily="18" charset="0"/>
              <a:ea typeface="Cambria" panose="02040503050406030204" pitchFamily="18" charset="0"/>
            </a:endParaRPr>
          </a:p>
          <a:p>
            <a:pPr algn="just">
              <a:lnSpc>
                <a:spcPct val="120000"/>
              </a:lnSpc>
              <a:spcAft>
                <a:spcPts val="800"/>
              </a:spcAft>
            </a:pPr>
            <a:r>
              <a:rPr lang="en-US" sz="2400" dirty="0">
                <a:solidFill>
                  <a:srgbClr val="C00000"/>
                </a:solidFill>
                <a:latin typeface="Cambria" panose="02040503050406030204" pitchFamily="18" charset="0"/>
                <a:ea typeface="Cambria" panose="02040503050406030204" pitchFamily="18" charset="0"/>
              </a:rPr>
              <a:t>9. Vulnerability </a:t>
            </a:r>
            <a:r>
              <a:rPr lang="en-US" sz="2400" dirty="0">
                <a:solidFill>
                  <a:schemeClr val="tx1"/>
                </a:solidFill>
                <a:latin typeface="Cambria" panose="02040503050406030204" pitchFamily="18" charset="0"/>
                <a:ea typeface="Cambria" panose="02040503050406030204" pitchFamily="18" charset="0"/>
              </a:rPr>
              <a:t>of Poor and Informal Settlements People living </a:t>
            </a:r>
            <a:r>
              <a:rPr lang="en-US" sz="2400" dirty="0" err="1">
                <a:solidFill>
                  <a:schemeClr val="tx1"/>
                </a:solidFill>
                <a:latin typeface="Cambria" panose="02040503050406030204" pitchFamily="18" charset="0"/>
                <a:ea typeface="Cambria" panose="02040503050406030204" pitchFamily="18" charset="0"/>
              </a:rPr>
              <a:t>in:Slums</a:t>
            </a:r>
            <a:r>
              <a:rPr lang="en-US" sz="2400" dirty="0">
                <a:solidFill>
                  <a:schemeClr val="tx1"/>
                </a:solidFill>
                <a:latin typeface="Cambria" panose="02040503050406030204" pitchFamily="18" charset="0"/>
                <a:ea typeface="Cambria" panose="02040503050406030204" pitchFamily="18" charset="0"/>
              </a:rPr>
              <a:t> Temporary shelters Poorly ventilated houses face greater heat exposure because many homes trap heat during night hours. </a:t>
            </a:r>
          </a:p>
          <a:p>
            <a:pPr algn="just">
              <a:lnSpc>
                <a:spcPct val="120000"/>
              </a:lnSpc>
              <a:spcAft>
                <a:spcPts val="800"/>
              </a:spcAft>
            </a:pPr>
            <a:endParaRPr lang="en-US" sz="2400" dirty="0">
              <a:solidFill>
                <a:schemeClr val="tx1"/>
              </a:solidFill>
              <a:latin typeface="Cambria" panose="02040503050406030204" pitchFamily="18" charset="0"/>
              <a:ea typeface="Cambria" panose="02040503050406030204" pitchFamily="18" charset="0"/>
            </a:endParaRPr>
          </a:p>
          <a:p>
            <a:pPr algn="just">
              <a:lnSpc>
                <a:spcPct val="120000"/>
              </a:lnSpc>
              <a:spcAft>
                <a:spcPts val="800"/>
              </a:spcAft>
            </a:pPr>
            <a:r>
              <a:rPr lang="en-US" sz="2400" dirty="0">
                <a:solidFill>
                  <a:srgbClr val="C00000"/>
                </a:solidFill>
                <a:latin typeface="Cambria" panose="02040503050406030204" pitchFamily="18" charset="0"/>
                <a:ea typeface="Cambria" panose="02040503050406030204" pitchFamily="18" charset="0"/>
              </a:rPr>
              <a:t>10. Early and Unpredictable </a:t>
            </a:r>
            <a:r>
              <a:rPr lang="en-US" sz="2400" dirty="0">
                <a:solidFill>
                  <a:schemeClr val="tx1"/>
                </a:solidFill>
                <a:latin typeface="Cambria" panose="02040503050406030204" pitchFamily="18" charset="0"/>
                <a:ea typeface="Cambria" panose="02040503050406030204" pitchFamily="18" charset="0"/>
              </a:rPr>
              <a:t>Heat Waves Heat waves are now occurring earlier than usual, sometimes even in February and March. This makes preparedness difficult. </a:t>
            </a:r>
          </a:p>
        </p:txBody>
      </p:sp>
    </p:spTree>
    <p:extLst>
      <p:ext uri="{BB962C8B-B14F-4D97-AF65-F5344CB8AC3E}">
        <p14:creationId xmlns:p14="http://schemas.microsoft.com/office/powerpoint/2010/main" val="220203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33137"/>
            <a:ext cx="9083661" cy="6237170"/>
          </a:xfrm>
          <a:ln>
            <a:solidFill>
              <a:schemeClr val="accent1"/>
            </a:solidFill>
          </a:ln>
        </p:spPr>
        <p:txBody>
          <a:bodyPr>
            <a:noAutofit/>
          </a:bodyPr>
          <a:lstStyle/>
          <a:p>
            <a:pPr algn="just">
              <a:lnSpc>
                <a:spcPct val="120000"/>
              </a:lnSpc>
              <a:spcAft>
                <a:spcPts val="800"/>
              </a:spcAft>
            </a:pPr>
            <a:endParaRPr lang="en-US" sz="2400" dirty="0">
              <a:solidFill>
                <a:srgbClr val="C00000"/>
              </a:solidFill>
              <a:latin typeface="Cambria" panose="02040503050406030204" pitchFamily="18" charset="0"/>
              <a:ea typeface="Cambria" panose="02040503050406030204" pitchFamily="18" charset="0"/>
            </a:endParaRPr>
          </a:p>
          <a:p>
            <a:pPr algn="just">
              <a:lnSpc>
                <a:spcPct val="120000"/>
              </a:lnSpc>
              <a:spcAft>
                <a:spcPts val="800"/>
              </a:spcAft>
            </a:pPr>
            <a:r>
              <a:rPr lang="en-US" sz="2400" dirty="0">
                <a:solidFill>
                  <a:srgbClr val="C00000"/>
                </a:solidFill>
                <a:latin typeface="Cambria" panose="02040503050406030204" pitchFamily="18" charset="0"/>
                <a:ea typeface="Cambria" panose="02040503050406030204" pitchFamily="18" charset="0"/>
              </a:rPr>
              <a:t>11. Challenges in Disaster </a:t>
            </a:r>
            <a:r>
              <a:rPr lang="en-US" sz="2400" dirty="0">
                <a:solidFill>
                  <a:schemeClr val="tx1"/>
                </a:solidFill>
                <a:latin typeface="Cambria" panose="02040503050406030204" pitchFamily="18" charset="0"/>
                <a:ea typeface="Cambria" panose="02040503050406030204" pitchFamily="18" charset="0"/>
              </a:rPr>
              <a:t>Preparedness Many districts still face problems such </a:t>
            </a:r>
            <a:r>
              <a:rPr lang="en-US" sz="2400" dirty="0" err="1">
                <a:solidFill>
                  <a:schemeClr val="tx1"/>
                </a:solidFill>
                <a:latin typeface="Cambria" panose="02040503050406030204" pitchFamily="18" charset="0"/>
                <a:ea typeface="Cambria" panose="02040503050406030204" pitchFamily="18" charset="0"/>
              </a:rPr>
              <a:t>as:Weak</a:t>
            </a:r>
            <a:r>
              <a:rPr lang="en-US" sz="2400" dirty="0">
                <a:solidFill>
                  <a:schemeClr val="tx1"/>
                </a:solidFill>
                <a:latin typeface="Cambria" panose="02040503050406030204" pitchFamily="18" charset="0"/>
                <a:ea typeface="Cambria" panose="02040503050406030204" pitchFamily="18" charset="0"/>
              </a:rPr>
              <a:t> Heat Action Plans Lack of awareness Poor coordination Limited cooling centers Inadequate local data Studies show that several city-level Heat Action Plans still have knowledge and governance gaps. </a:t>
            </a:r>
          </a:p>
          <a:p>
            <a:pPr algn="just">
              <a:lnSpc>
                <a:spcPct val="120000"/>
              </a:lnSpc>
              <a:spcAft>
                <a:spcPts val="800"/>
              </a:spcAft>
            </a:pPr>
            <a:endParaRPr lang="en-US" sz="2400" dirty="0">
              <a:solidFill>
                <a:schemeClr val="tx1"/>
              </a:solidFill>
              <a:latin typeface="Cambria" panose="02040503050406030204" pitchFamily="18" charset="0"/>
              <a:ea typeface="Cambria" panose="02040503050406030204" pitchFamily="18" charset="0"/>
            </a:endParaRPr>
          </a:p>
          <a:p>
            <a:pPr algn="just">
              <a:lnSpc>
                <a:spcPct val="120000"/>
              </a:lnSpc>
              <a:spcAft>
                <a:spcPts val="800"/>
              </a:spcAft>
            </a:pPr>
            <a:r>
              <a:rPr lang="en-US" sz="2400" dirty="0">
                <a:solidFill>
                  <a:srgbClr val="C00000"/>
                </a:solidFill>
                <a:latin typeface="Cambria" panose="02040503050406030204" pitchFamily="18" charset="0"/>
                <a:ea typeface="Cambria" panose="02040503050406030204" pitchFamily="18" charset="0"/>
              </a:rPr>
              <a:t>12. Marine Heat Waves </a:t>
            </a:r>
            <a:r>
              <a:rPr lang="en-US" sz="2400" dirty="0">
                <a:solidFill>
                  <a:schemeClr val="tx1"/>
                </a:solidFill>
                <a:latin typeface="Cambria" panose="02040503050406030204" pitchFamily="18" charset="0"/>
                <a:ea typeface="Cambria" panose="02040503050406030204" pitchFamily="18" charset="0"/>
              </a:rPr>
              <a:t>and Weather Changes The Indian Ocean and Arabian Sea are also warming rapidly. Marine heat waves </a:t>
            </a:r>
            <a:r>
              <a:rPr lang="en-US" sz="2400" dirty="0" err="1">
                <a:solidFill>
                  <a:schemeClr val="tx1"/>
                </a:solidFill>
                <a:latin typeface="Cambria" panose="02040503050406030204" pitchFamily="18" charset="0"/>
                <a:ea typeface="Cambria" panose="02040503050406030204" pitchFamily="18" charset="0"/>
              </a:rPr>
              <a:t>may:Affect</a:t>
            </a:r>
            <a:r>
              <a:rPr lang="en-US" sz="2400" dirty="0">
                <a:solidFill>
                  <a:schemeClr val="tx1"/>
                </a:solidFill>
                <a:latin typeface="Cambria" panose="02040503050406030204" pitchFamily="18" charset="0"/>
                <a:ea typeface="Cambria" panose="02040503050406030204" pitchFamily="18" charset="0"/>
              </a:rPr>
              <a:t> fisheries Disturb monsoon systems Increase extreme weather events.</a:t>
            </a:r>
          </a:p>
        </p:txBody>
      </p:sp>
    </p:spTree>
    <p:extLst>
      <p:ext uri="{BB962C8B-B14F-4D97-AF65-F5344CB8AC3E}">
        <p14:creationId xmlns:p14="http://schemas.microsoft.com/office/powerpoint/2010/main" val="3789366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766046" y="433137"/>
            <a:ext cx="9083661" cy="6237170"/>
          </a:xfrm>
          <a:ln>
            <a:solidFill>
              <a:schemeClr val="accent1"/>
            </a:solidFill>
          </a:ln>
        </p:spPr>
        <p:txBody>
          <a:bodyPr>
            <a:noAutofit/>
          </a:bodyPr>
          <a:lstStyle/>
          <a:p>
            <a:pPr algn="ctr">
              <a:lnSpc>
                <a:spcPct val="120000"/>
              </a:lnSpc>
              <a:spcAft>
                <a:spcPts val="800"/>
              </a:spcAft>
            </a:pPr>
            <a:r>
              <a:rPr lang="en-US" sz="3200" dirty="0">
                <a:solidFill>
                  <a:srgbClr val="00B050"/>
                </a:solidFill>
                <a:latin typeface="Cambria" panose="02040503050406030204" pitchFamily="18" charset="0"/>
                <a:ea typeface="Cambria" panose="02040503050406030204" pitchFamily="18" charset="0"/>
              </a:rPr>
              <a:t>Miyawaki Forest</a:t>
            </a:r>
          </a:p>
          <a:p>
            <a:pPr algn="just">
              <a:lnSpc>
                <a:spcPct val="120000"/>
              </a:lnSpc>
              <a:spcAft>
                <a:spcPts val="800"/>
              </a:spcAft>
            </a:pPr>
            <a:endParaRPr lang="en-US" sz="2400" dirty="0">
              <a:solidFill>
                <a:srgbClr val="C00000"/>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EDD1C1F5-D83E-4E55-A333-DBEDD6842C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3562" y="1010653"/>
            <a:ext cx="9006145" cy="5582652"/>
          </a:xfrm>
          <a:prstGeom prst="rect">
            <a:avLst/>
          </a:prstGeom>
        </p:spPr>
      </p:pic>
    </p:spTree>
    <p:extLst>
      <p:ext uri="{BB962C8B-B14F-4D97-AF65-F5344CB8AC3E}">
        <p14:creationId xmlns:p14="http://schemas.microsoft.com/office/powerpoint/2010/main" val="2052011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Subtitle 2"/>
          <p:cNvSpPr>
            <a:spLocks noGrp="1"/>
          </p:cNvSpPr>
          <p:nvPr>
            <p:ph type="subTitle" idx="1"/>
          </p:nvPr>
        </p:nvSpPr>
        <p:spPr>
          <a:xfrm>
            <a:off x="1958551" y="1713297"/>
            <a:ext cx="9083661" cy="3060834"/>
          </a:xfrm>
          <a:ln>
            <a:solidFill>
              <a:schemeClr val="accent1"/>
            </a:solidFill>
          </a:ln>
        </p:spPr>
        <p:txBody>
          <a:bodyPr>
            <a:noAutofit/>
          </a:bodyPr>
          <a:lstStyle/>
          <a:p>
            <a:pPr algn="just">
              <a:lnSpc>
                <a:spcPct val="120000"/>
              </a:lnSpc>
              <a:spcAft>
                <a:spcPts val="800"/>
              </a:spcAft>
            </a:pPr>
            <a:endParaRPr lang="en-US" sz="1600" dirty="0">
              <a:latin typeface="Cambria" panose="02040503050406030204" pitchFamily="18" charset="0"/>
              <a:ea typeface="Cambria" panose="02040503050406030204" pitchFamily="18" charset="0"/>
            </a:endParaRPr>
          </a:p>
          <a:p>
            <a:pPr algn="ctr">
              <a:spcBef>
                <a:spcPts val="0"/>
              </a:spcBef>
            </a:pPr>
            <a:r>
              <a:rPr lang="en-US" sz="13800" b="1" i="1" dirty="0">
                <a:latin typeface="Britannic Bold" panose="020B0903060703020204" pitchFamily="34" charset="0"/>
                <a:ea typeface="Cambria" panose="02040503050406030204" pitchFamily="18" charset="0"/>
              </a:rPr>
              <a:t>Thank you</a:t>
            </a:r>
          </a:p>
          <a:p>
            <a:pPr algn="ctr">
              <a:spcBef>
                <a:spcPts val="0"/>
              </a:spcBef>
            </a:pPr>
            <a:endParaRPr lang="en-US" sz="1200" b="1" i="1" dirty="0">
              <a:latin typeface="Britannic Bold" panose="020B0903060703020204" pitchFamily="34" charset="0"/>
              <a:ea typeface="Cambria" panose="02040503050406030204" pitchFamily="18" charset="0"/>
            </a:endParaRPr>
          </a:p>
          <a:p>
            <a:pPr algn="r">
              <a:spcBef>
                <a:spcPts val="0"/>
              </a:spcBef>
            </a:pPr>
            <a:endParaRPr lang="en-US" b="1" i="1" dirty="0">
              <a:latin typeface="Britannic Bold" panose="020B0903060703020204" pitchFamily="34" charset="0"/>
              <a:ea typeface="Cambria" panose="02040503050406030204" pitchFamily="18" charset="0"/>
            </a:endParaRPr>
          </a:p>
          <a:p>
            <a:pPr algn="r">
              <a:spcBef>
                <a:spcPts val="0"/>
              </a:spcBef>
            </a:pPr>
            <a:endParaRPr lang="en-US" b="1" i="1" dirty="0">
              <a:latin typeface="Britannic Bold" panose="020B0903060703020204" pitchFamily="34" charset="0"/>
              <a:ea typeface="Cambria" panose="02040503050406030204" pitchFamily="18" charset="0"/>
            </a:endParaRPr>
          </a:p>
          <a:p>
            <a:pPr>
              <a:spcBef>
                <a:spcPts val="0"/>
              </a:spcBef>
            </a:pPr>
            <a:r>
              <a:rPr lang="en-US" sz="3200" b="1" i="1" dirty="0">
                <a:latin typeface="Britannic Bold" panose="020B0903060703020204" pitchFamily="34" charset="0"/>
                <a:ea typeface="Cambria" panose="02040503050406030204" pitchFamily="18" charset="0"/>
              </a:rPr>
              <a:t>                                                    R. Sudhakar</a:t>
            </a:r>
          </a:p>
          <a:p>
            <a:pPr algn="r">
              <a:spcBef>
                <a:spcPts val="0"/>
              </a:spcBef>
            </a:pPr>
            <a:r>
              <a:rPr lang="en-US" sz="3200" b="1" i="1" dirty="0">
                <a:latin typeface="Britannic Bold" panose="020B0903060703020204" pitchFamily="34" charset="0"/>
                <a:ea typeface="Cambria" panose="02040503050406030204" pitchFamily="18" charset="0"/>
              </a:rPr>
              <a:t>DFO, </a:t>
            </a:r>
            <a:r>
              <a:rPr lang="en-US" sz="3200" b="1" i="1" dirty="0" err="1">
                <a:latin typeface="Britannic Bold" panose="020B0903060703020204" pitchFamily="34" charset="0"/>
                <a:ea typeface="Cambria" panose="02040503050406030204" pitchFamily="18" charset="0"/>
              </a:rPr>
              <a:t>Kamareddy</a:t>
            </a:r>
            <a:endParaRPr lang="en-US" sz="3200" b="1" i="1" dirty="0">
              <a:latin typeface="Britannic Bold" panose="020B0903060703020204" pitchFamily="34" charset="0"/>
              <a:ea typeface="Cambria" panose="02040503050406030204" pitchFamily="18" charset="0"/>
            </a:endParaRPr>
          </a:p>
        </p:txBody>
      </p:sp>
    </p:spTree>
    <p:extLst>
      <p:ext uri="{BB962C8B-B14F-4D97-AF65-F5344CB8AC3E}">
        <p14:creationId xmlns:p14="http://schemas.microsoft.com/office/powerpoint/2010/main" val="162611474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290</TotalTime>
  <Words>1567</Words>
  <Application>Microsoft Office PowerPoint</Application>
  <PresentationFormat>Widescreen</PresentationFormat>
  <Paragraphs>62</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Britannic Bold</vt:lpstr>
      <vt:lpstr>Calibri</vt:lpstr>
      <vt:lpstr>Cambria</vt:lpstr>
      <vt:lpstr>Century Gothic</vt:lpstr>
      <vt:lpstr>Wingdings 3</vt:lpstr>
      <vt:lpstr>Wisp</vt:lpstr>
      <vt:lpstr>Response for Heat Wave</vt:lpstr>
      <vt:lpstr>PowerPoint Presentation</vt:lpstr>
      <vt:lpstr>Response to Heat Exhaustion</vt:lpstr>
      <vt:lpstr>PowerPoint Presentation</vt:lpstr>
      <vt:lpstr>PowerPoint Presentation</vt:lpstr>
      <vt:lpstr>PowerPoint Presentation</vt:lpstr>
      <vt:lpstr>PowerPoint Presentation</vt:lpstr>
      <vt:lpstr>Heat Wave Recovery</vt:lpstr>
      <vt:lpstr>PowerPoint Presentation</vt:lpstr>
      <vt:lpstr>PowerPoint Presentation</vt:lpstr>
      <vt:lpstr>PowerPoint Presentation</vt:lpstr>
      <vt:lpstr>The future challenges of heat waves in India</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fireoffice</dc:creator>
  <cp:lastModifiedBy>fireoffice</cp:lastModifiedBy>
  <cp:revision>57</cp:revision>
  <cp:lastPrinted>2026-05-18T12:52:19Z</cp:lastPrinted>
  <dcterms:created xsi:type="dcterms:W3CDTF">2026-05-14T04:42:45Z</dcterms:created>
  <dcterms:modified xsi:type="dcterms:W3CDTF">2026-05-18T12:57:32Z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419a82f1827c41dea42f4fd71f876ed3</vt:lpwstr>
  </property>
</Properties>
</file>