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3"/>
  </p:notesMasterIdLst>
  <p:sldIdLst>
    <p:sldId id="256" r:id="rId2"/>
    <p:sldId id="261" r:id="rId3"/>
    <p:sldId id="263" r:id="rId4"/>
    <p:sldId id="265" r:id="rId5"/>
    <p:sldId id="267" r:id="rId6"/>
    <p:sldId id="268" r:id="rId7"/>
    <p:sldId id="269" r:id="rId8"/>
    <p:sldId id="270" r:id="rId9"/>
    <p:sldId id="273" r:id="rId10"/>
    <p:sldId id="272" r:id="rId11"/>
    <p:sldId id="260" r:id="rId12"/>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109" d="100"/>
          <a:sy n="109"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3" name="Rectangle 2"/>
          <p:cNvSpPr>
            <a:spLocks noGrp="1" noChangeArrowheads="1"/>
          </p:cNvSpPr>
          <p:nvPr>
            <p:ph type="hdr" sz="quarter"/>
          </p:nvPr>
        </p:nvSpPr>
        <p:spPr bwMode="auto">
          <a:xfrm>
            <a:off x="2" y="1"/>
            <a:ext cx="3049513" cy="556651"/>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54" name="Rectangle 3"/>
          <p:cNvSpPr>
            <a:spLocks noGrp="1" noChangeArrowheads="1"/>
          </p:cNvSpPr>
          <p:nvPr>
            <p:ph type="dt" idx="1"/>
          </p:nvPr>
        </p:nvSpPr>
        <p:spPr bwMode="auto">
          <a:xfrm>
            <a:off x="3985768" y="1"/>
            <a:ext cx="3049513" cy="556651"/>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55" name="Rectangle 4"/>
          <p:cNvSpPr>
            <a:spLocks noGrp="1" noRot="1" noChangeAspect="1" noChangeArrowheads="1" noTextEdit="1"/>
          </p:cNvSpPr>
          <p:nvPr>
            <p:ph type="sldImg" idx="2"/>
          </p:nvPr>
        </p:nvSpPr>
        <p:spPr bwMode="auto">
          <a:xfrm>
            <a:off x="-184150" y="831850"/>
            <a:ext cx="7405688" cy="4167188"/>
          </a:xfrm>
          <a:prstGeom prst="rect">
            <a:avLst/>
          </a:prstGeom>
          <a:noFill/>
          <a:ln w="9525">
            <a:solidFill>
              <a:srgbClr val="000000"/>
            </a:solidFill>
            <a:miter lim="800000"/>
            <a:headEnd/>
            <a:tailEnd/>
          </a:ln>
          <a:effectLst/>
        </p:spPr>
      </p:sp>
      <p:sp>
        <p:nvSpPr>
          <p:cNvPr id="1048656" name="Rectangle 5"/>
          <p:cNvSpPr>
            <a:spLocks noGrp="1" noChangeArrowheads="1"/>
          </p:cNvSpPr>
          <p:nvPr>
            <p:ph type="body" sz="quarter" idx="3"/>
          </p:nvPr>
        </p:nvSpPr>
        <p:spPr bwMode="auto">
          <a:xfrm>
            <a:off x="703373" y="5278699"/>
            <a:ext cx="5630111" cy="4999509"/>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7" name="Rectangle 6"/>
          <p:cNvSpPr>
            <a:spLocks noGrp="1" noChangeArrowheads="1"/>
          </p:cNvSpPr>
          <p:nvPr>
            <p:ph type="ftr" sz="quarter" idx="4"/>
          </p:nvPr>
        </p:nvSpPr>
        <p:spPr bwMode="auto">
          <a:xfrm>
            <a:off x="2" y="10552225"/>
            <a:ext cx="3049513" cy="556649"/>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58" name="Rectangle 7"/>
          <p:cNvSpPr>
            <a:spLocks noGrp="1" noChangeArrowheads="1"/>
          </p:cNvSpPr>
          <p:nvPr>
            <p:ph type="sldNum" sz="quarter" idx="5"/>
          </p:nvPr>
        </p:nvSpPr>
        <p:spPr bwMode="auto">
          <a:xfrm>
            <a:off x="3985768" y="10552225"/>
            <a:ext cx="3049513" cy="556649"/>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89335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754204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55014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7FD82E-05B5-4455-9970-9767CC6AB459}" type="datetimeFigureOut">
              <a:rPr lang="en-IN" smtClean="0"/>
              <a:t>16-05-2026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754110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7FD82E-05B5-4455-9970-9767CC6AB459}" type="datetimeFigureOut">
              <a:rPr lang="en-IN" smtClean="0"/>
              <a:t>16-05-2026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965322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7FD82E-05B5-4455-9970-9767CC6AB459}" type="datetimeFigureOut">
              <a:rPr lang="en-IN" smtClean="0"/>
              <a:t>16-05-2026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49699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7FD82E-05B5-4455-9970-9767CC6AB459}" type="datetimeFigureOut">
              <a:rPr lang="en-IN" smtClean="0"/>
              <a:t>16-05-2026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67774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15772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3042344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3133294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065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735731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16-05-2026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99185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16-05-2026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521461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83958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16-05-2026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4140092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E7FD82E-05B5-4455-9970-9767CC6AB459}" type="datetimeFigureOut">
              <a:rPr lang="en-IN" smtClean="0"/>
              <a:t>16-05-2026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049554F-2D27-4008-94A8-E71C528EED77}" type="slidenum">
              <a:rPr lang="en-IN" smtClean="0"/>
              <a:t>‹#›</a:t>
            </a:fld>
            <a:endParaRPr lang="en-IN"/>
          </a:p>
        </p:txBody>
      </p:sp>
    </p:spTree>
    <p:extLst>
      <p:ext uri="{BB962C8B-B14F-4D97-AF65-F5344CB8AC3E}">
        <p14:creationId xmlns:p14="http://schemas.microsoft.com/office/powerpoint/2010/main" val="270877939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494692" y="277907"/>
            <a:ext cx="10119946" cy="891470"/>
          </a:xfrm>
        </p:spPr>
        <p:txBody>
          <a:bodyPr>
            <a:noAutofit/>
          </a:bodyPr>
          <a:lstStyle/>
          <a:p>
            <a:pPr algn="ctr"/>
            <a:r>
              <a:rPr lang="en-US" sz="2000" b="1" u="sng" dirty="0">
                <a:solidFill>
                  <a:srgbClr val="002060"/>
                </a:solidFill>
                <a:latin typeface="Cambria" panose="02040503050406030204" pitchFamily="18" charset="0"/>
                <a:ea typeface="Cambria" panose="02040503050406030204" pitchFamily="18" charset="0"/>
              </a:rPr>
              <a:t>Heatwave Preparedness, Risk Assessment, and Technology </a:t>
            </a:r>
            <a:br>
              <a:rPr lang="en-US" sz="2000" b="1" u="sng" dirty="0">
                <a:solidFill>
                  <a:srgbClr val="002060"/>
                </a:solidFill>
                <a:latin typeface="Cambria" panose="02040503050406030204" pitchFamily="18" charset="0"/>
                <a:ea typeface="Cambria" panose="02040503050406030204" pitchFamily="18" charset="0"/>
              </a:rPr>
            </a:br>
            <a:r>
              <a:rPr lang="en-US" sz="2000" b="1" u="sng" dirty="0">
                <a:solidFill>
                  <a:srgbClr val="002060"/>
                </a:solidFill>
                <a:latin typeface="Cambria" panose="02040503050406030204" pitchFamily="18" charset="0"/>
                <a:ea typeface="Cambria" panose="02040503050406030204" pitchFamily="18" charset="0"/>
              </a:rPr>
              <a:t>Support Notes for Graduate-Level Students</a:t>
            </a:r>
            <a:endParaRPr lang="en-IN" sz="2000" b="1" u="sng" dirty="0">
              <a:solidFill>
                <a:srgbClr val="002060"/>
              </a:solidFill>
              <a:latin typeface="Cambria" panose="02040503050406030204" pitchFamily="18" charset="0"/>
              <a:ea typeface="Cambria" panose="02040503050406030204" pitchFamily="18" charset="0"/>
            </a:endParaRPr>
          </a:p>
        </p:txBody>
      </p:sp>
      <p:sp>
        <p:nvSpPr>
          <p:cNvPr id="1048587" name="Subtitle 2"/>
          <p:cNvSpPr>
            <a:spLocks noGrp="1"/>
          </p:cNvSpPr>
          <p:nvPr>
            <p:ph type="subTitle" idx="1"/>
          </p:nvPr>
        </p:nvSpPr>
        <p:spPr>
          <a:xfrm>
            <a:off x="1766046" y="1512277"/>
            <a:ext cx="9083661" cy="4906107"/>
          </a:xfrm>
          <a:ln>
            <a:solidFill>
              <a:schemeClr val="accent1"/>
            </a:solidFill>
          </a:ln>
        </p:spPr>
        <p:txBody>
          <a:bodyPr>
            <a:noAutofit/>
          </a:bodyPr>
          <a:lstStyle/>
          <a:p>
            <a:pPr marL="514350" indent="-514350" algn="just">
              <a:lnSpc>
                <a:spcPct val="120000"/>
              </a:lnSpc>
              <a:spcAft>
                <a:spcPts val="800"/>
              </a:spcAft>
              <a:buAutoNum type="arabicPeriod"/>
            </a:pPr>
            <a:r>
              <a:rPr lang="en-US" sz="2000" dirty="0">
                <a:solidFill>
                  <a:srgbClr val="C00000"/>
                </a:solidFill>
                <a:latin typeface="Cambria" panose="02040503050406030204" pitchFamily="18" charset="0"/>
                <a:ea typeface="Cambria" panose="02040503050406030204" pitchFamily="18" charset="0"/>
              </a:rPr>
              <a:t>Introduction to Heatwaves</a:t>
            </a:r>
          </a:p>
          <a:p>
            <a:pPr algn="just">
              <a:spcBef>
                <a:spcPts val="0"/>
              </a:spcBef>
            </a:pPr>
            <a:r>
              <a:rPr lang="en-US" sz="2800" dirty="0">
                <a:solidFill>
                  <a:srgbClr val="C00000"/>
                </a:solidFill>
                <a:latin typeface="Cambria" panose="02040503050406030204" pitchFamily="18" charset="0"/>
                <a:ea typeface="Cambria" panose="02040503050406030204" pitchFamily="18" charset="0"/>
              </a:rPr>
              <a:t> </a:t>
            </a:r>
            <a:r>
              <a:rPr lang="en-US" sz="2000" dirty="0">
                <a:solidFill>
                  <a:schemeClr val="tx1"/>
                </a:solidFill>
                <a:latin typeface="Cambria" panose="02040503050406030204" pitchFamily="18" charset="0"/>
                <a:ea typeface="Cambria" panose="02040503050406030204" pitchFamily="18" charset="0"/>
              </a:rPr>
              <a:t>A heatwave is a prolonged period of abnormally high temperatures, often accompanied by high humidity, which adversely affects human health, agriculture, water resources, livestock, infrastructure, and the environment. In India, the criteria for declaring a heatwave are issued by the India Meteorological Department. IMD Criteria for Heat wave A heatwave is declared when :</a:t>
            </a:r>
          </a:p>
          <a:p>
            <a:pPr algn="just">
              <a:spcBef>
                <a:spcPts val="0"/>
              </a:spcBef>
            </a:pPr>
            <a:r>
              <a:rPr lang="en-US" sz="2000" dirty="0">
                <a:solidFill>
                  <a:srgbClr val="C00000"/>
                </a:solidFill>
                <a:latin typeface="Cambria" panose="02040503050406030204" pitchFamily="18" charset="0"/>
                <a:ea typeface="Cambria" panose="02040503050406030204" pitchFamily="18" charset="0"/>
              </a:rPr>
              <a:t>Maximum temperature reaches:</a:t>
            </a:r>
          </a:p>
          <a:p>
            <a:pPr algn="just">
              <a:spcBef>
                <a:spcPts val="0"/>
              </a:spcBef>
            </a:pPr>
            <a:r>
              <a:rPr lang="en-US" sz="2000" dirty="0">
                <a:solidFill>
                  <a:schemeClr val="tx1"/>
                </a:solidFill>
                <a:latin typeface="Cambria" panose="02040503050406030204" pitchFamily="18" charset="0"/>
                <a:ea typeface="Cambria" panose="02040503050406030204" pitchFamily="18" charset="0"/>
              </a:rPr>
              <a:t>40°C or more in plains</a:t>
            </a:r>
          </a:p>
          <a:p>
            <a:pPr algn="just">
              <a:spcBef>
                <a:spcPts val="0"/>
              </a:spcBef>
            </a:pPr>
            <a:r>
              <a:rPr lang="en-US" sz="2000" dirty="0">
                <a:solidFill>
                  <a:schemeClr val="tx1"/>
                </a:solidFill>
                <a:latin typeface="Cambria" panose="02040503050406030204" pitchFamily="18" charset="0"/>
                <a:ea typeface="Cambria" panose="02040503050406030204" pitchFamily="18" charset="0"/>
              </a:rPr>
              <a:t>37°C or more in coastal areas </a:t>
            </a:r>
          </a:p>
          <a:p>
            <a:pPr algn="just">
              <a:spcBef>
                <a:spcPts val="0"/>
              </a:spcBef>
            </a:pPr>
            <a:r>
              <a:rPr lang="en-US" sz="2000" dirty="0">
                <a:solidFill>
                  <a:schemeClr val="tx1"/>
                </a:solidFill>
                <a:latin typeface="Cambria" panose="02040503050406030204" pitchFamily="18" charset="0"/>
                <a:ea typeface="Cambria" panose="02040503050406030204" pitchFamily="18" charset="0"/>
              </a:rPr>
              <a:t>30°C or more in hilly regions </a:t>
            </a:r>
          </a:p>
          <a:p>
            <a:pPr algn="just">
              <a:spcBef>
                <a:spcPts val="0"/>
              </a:spcBef>
            </a:pPr>
            <a:r>
              <a:rPr lang="en-US" sz="2000" dirty="0">
                <a:solidFill>
                  <a:schemeClr val="tx1"/>
                </a:solidFill>
                <a:latin typeface="Cambria" panose="02040503050406030204" pitchFamily="18" charset="0"/>
                <a:ea typeface="Cambria" panose="02040503050406030204" pitchFamily="18" charset="0"/>
              </a:rPr>
              <a:t>And:</a:t>
            </a:r>
          </a:p>
          <a:p>
            <a:pPr algn="just">
              <a:spcBef>
                <a:spcPts val="0"/>
              </a:spcBef>
            </a:pPr>
            <a:r>
              <a:rPr lang="en-US" sz="2000" dirty="0">
                <a:solidFill>
                  <a:schemeClr val="tx1"/>
                </a:solidFill>
                <a:latin typeface="Cambria" panose="02040503050406030204" pitchFamily="18" charset="0"/>
                <a:ea typeface="Cambria" panose="02040503050406030204" pitchFamily="18" charset="0"/>
              </a:rPr>
              <a:t> Departure from normal temperature is:4.5°C to 6.4°C → Heat wave More than 6.4°C → Severe Heatwave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5134708"/>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2. Causes of Heat waves </a:t>
            </a:r>
          </a:p>
          <a:p>
            <a:pPr algn="just">
              <a:lnSpc>
                <a:spcPct val="120000"/>
              </a:lnSpc>
              <a:spcAft>
                <a:spcPts val="800"/>
              </a:spcAft>
            </a:pPr>
            <a:r>
              <a:rPr lang="en-US" sz="2000" dirty="0">
                <a:latin typeface="Cambria" panose="02040503050406030204" pitchFamily="18" charset="0"/>
                <a:ea typeface="Cambria" panose="02040503050406030204" pitchFamily="18" charset="0"/>
              </a:rPr>
              <a:t>Natural Causes High-pressure atmospheric systems Dry winds Lack of cloud cover Delayed monsoon El Niño conditions Human-Induced Causes Climate change and global warming Urban Heat Island effect Deforestation Industrialization Vehicular emissions Concrete-based urbanization.</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3. Characteristics of Heatwaves</a:t>
            </a:r>
          </a:p>
          <a:p>
            <a:pPr algn="just">
              <a:lnSpc>
                <a:spcPct val="120000"/>
              </a:lnSpc>
              <a:spcAft>
                <a:spcPts val="800"/>
              </a:spcAft>
            </a:pPr>
            <a:r>
              <a:rPr lang="en-US" sz="2000" dirty="0">
                <a:latin typeface="Cambria" panose="02040503050406030204" pitchFamily="18" charset="0"/>
                <a:ea typeface="Cambria" panose="02040503050406030204" pitchFamily="18" charset="0"/>
              </a:rPr>
              <a:t>Meteorological Characteristics Extremely high daytime temperatures Warm nights Low wind speed Low soil moisture Dry atmospheric conditions Environmental Characteristics Water scarcity Forest fires Crop stress Increased electricity demand.</a:t>
            </a:r>
          </a:p>
          <a:p>
            <a:pPr algn="just">
              <a:lnSpc>
                <a:spcPct val="120000"/>
              </a:lnSpc>
              <a:spcAft>
                <a:spcPts val="800"/>
              </a:spcAft>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32437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6400800"/>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4. Impacts of Heatwaves. </a:t>
            </a:r>
          </a:p>
          <a:p>
            <a:pPr algn="just">
              <a:spcBef>
                <a:spcPts val="0"/>
              </a:spcBef>
            </a:pPr>
            <a:r>
              <a:rPr lang="en-US" sz="2000" dirty="0">
                <a:solidFill>
                  <a:srgbClr val="C00000"/>
                </a:solidFill>
                <a:latin typeface="Cambria" panose="02040503050406030204" pitchFamily="18" charset="0"/>
                <a:ea typeface="Cambria" panose="02040503050406030204" pitchFamily="18" charset="0"/>
              </a:rPr>
              <a:t>A</a:t>
            </a:r>
            <a:r>
              <a:rPr lang="en-US" sz="2000" dirty="0">
                <a:solidFill>
                  <a:schemeClr val="tx1"/>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Human Health Impacts Heat-Related Illnesses Heat cramps Heat exhaustion Heat syncope Heat stroke (life-threatening)Symptoms of Heat Stroke Body temperature above 40°CConfusionDizzinessRapid pulse Loss of consciousness Vulnerable Groups Elderly persons Children Pregnant women Outdoor workers Traffic police Construction workers Farmers People with chronic diseases </a:t>
            </a:r>
          </a:p>
          <a:p>
            <a:pPr algn="just">
              <a:spcBef>
                <a:spcPts val="0"/>
              </a:spcBef>
            </a:pPr>
            <a:r>
              <a:rPr lang="en-US" sz="2000" dirty="0">
                <a:solidFill>
                  <a:srgbClr val="C00000"/>
                </a:solidFill>
                <a:latin typeface="Cambria" panose="02040503050406030204" pitchFamily="18" charset="0"/>
                <a:ea typeface="Cambria" panose="02040503050406030204" pitchFamily="18" charset="0"/>
              </a:rPr>
              <a:t>B</a:t>
            </a:r>
            <a:r>
              <a:rPr lang="en-US" sz="2000" dirty="0">
                <a:latin typeface="Cambria" panose="02040503050406030204" pitchFamily="18" charset="0"/>
                <a:ea typeface="Cambria" panose="02040503050406030204" pitchFamily="18" charset="0"/>
              </a:rPr>
              <a:t>. Economic Impacts Loss of productivity Increased healthcare expenditure Power shortages Damage to roads and rail tracks Livestock losses</a:t>
            </a:r>
          </a:p>
          <a:p>
            <a:pPr algn="just">
              <a:spcBef>
                <a:spcPts val="0"/>
              </a:spcBef>
            </a:pPr>
            <a:r>
              <a:rPr lang="en-US" sz="2000" dirty="0">
                <a:solidFill>
                  <a:srgbClr val="C00000"/>
                </a:solidFill>
                <a:latin typeface="Cambria" panose="02040503050406030204" pitchFamily="18" charset="0"/>
                <a:ea typeface="Cambria" panose="02040503050406030204" pitchFamily="18" charset="0"/>
              </a:rPr>
              <a:t>C</a:t>
            </a:r>
            <a:r>
              <a:rPr lang="en-US" sz="2000" dirty="0">
                <a:latin typeface="Cambria" panose="02040503050406030204" pitchFamily="18" charset="0"/>
                <a:ea typeface="Cambria" panose="02040503050406030204" pitchFamily="18" charset="0"/>
              </a:rPr>
              <a:t>. Environmental Impacts Drought conditions Water depletion Soil degradation Forest fires Biodiversity stress.</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5. Heatwave Risk Assessment </a:t>
            </a:r>
          </a:p>
          <a:p>
            <a:pPr algn="just">
              <a:lnSpc>
                <a:spcPct val="120000"/>
              </a:lnSpc>
              <a:spcAft>
                <a:spcPts val="800"/>
              </a:spcAft>
            </a:pPr>
            <a:r>
              <a:rPr lang="en-US" sz="2000" dirty="0">
                <a:latin typeface="Cambria" panose="02040503050406030204" pitchFamily="18" charset="0"/>
                <a:ea typeface="Cambria" panose="02040503050406030204" pitchFamily="18" charset="0"/>
              </a:rPr>
              <a:t>Meaning of Risk Assessment Risk assessment is the systematic process of identifying : Hazards Exposure Vulnerability Capacity to estimate the probable impact of heatwaves.</a:t>
            </a:r>
          </a:p>
          <a:p>
            <a:pPr algn="just">
              <a:lnSpc>
                <a:spcPct val="120000"/>
              </a:lnSpc>
              <a:spcAft>
                <a:spcPts val="800"/>
              </a:spcAft>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47931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5943600"/>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6.    Components of Heatwave Risk</a:t>
            </a:r>
          </a:p>
          <a:p>
            <a:pPr marL="457200" indent="-457200" algn="just">
              <a:lnSpc>
                <a:spcPct val="120000"/>
              </a:lnSpc>
              <a:spcAft>
                <a:spcPts val="800"/>
              </a:spcAft>
              <a:buAutoNum type="alphaUcPeriod"/>
            </a:pPr>
            <a:r>
              <a:rPr lang="en-US" sz="2000" dirty="0">
                <a:latin typeface="Cambria" panose="02040503050406030204" pitchFamily="18" charset="0"/>
                <a:ea typeface="Cambria" panose="02040503050406030204" pitchFamily="18" charset="0"/>
              </a:rPr>
              <a:t>Hazard The probability and intensity of extreme heat events. Indicators Maximum temperature Heat index Duration of heat wave Night temperature</a:t>
            </a:r>
          </a:p>
          <a:p>
            <a:pPr marL="447675" indent="-447675" algn="just">
              <a:lnSpc>
                <a:spcPct val="120000"/>
              </a:lnSpc>
              <a:spcAft>
                <a:spcPts val="800"/>
              </a:spcAft>
            </a:pPr>
            <a:r>
              <a:rPr lang="en-US" sz="2000" dirty="0">
                <a:latin typeface="Cambria" panose="02040503050406030204" pitchFamily="18" charset="0"/>
                <a:ea typeface="Cambria" panose="02040503050406030204" pitchFamily="18" charset="0"/>
              </a:rPr>
              <a:t>B.    Exposure Population and assets exposed to heat. Examples Urban populations Slum settlements Outdoor workers Industrial workers Agricultural </a:t>
            </a:r>
            <a:r>
              <a:rPr lang="en-US" sz="2000" dirty="0" err="1">
                <a:latin typeface="Cambria" panose="02040503050406030204" pitchFamily="18" charset="0"/>
                <a:ea typeface="Cambria" panose="02040503050406030204" pitchFamily="18" charset="0"/>
              </a:rPr>
              <a:t>labourers</a:t>
            </a:r>
            <a:endParaRPr lang="en-US" sz="2000" dirty="0">
              <a:latin typeface="Cambria" panose="02040503050406030204" pitchFamily="18" charset="0"/>
              <a:ea typeface="Cambria" panose="02040503050406030204" pitchFamily="18" charset="0"/>
            </a:endParaRPr>
          </a:p>
          <a:p>
            <a:pPr marL="447675" indent="-447675" algn="just">
              <a:lnSpc>
                <a:spcPct val="120000"/>
              </a:lnSpc>
              <a:spcAft>
                <a:spcPts val="800"/>
              </a:spcAft>
            </a:pPr>
            <a:r>
              <a:rPr lang="en-US" sz="2000" dirty="0">
                <a:latin typeface="Cambria" panose="02040503050406030204" pitchFamily="18" charset="0"/>
                <a:ea typeface="Cambria" panose="02040503050406030204" pitchFamily="18" charset="0"/>
              </a:rPr>
              <a:t>C.    Vulnerability Degree to which people are susceptible to heat impacts. Factors Age Poverty Housing conditions Access to water Health conditions</a:t>
            </a:r>
          </a:p>
          <a:p>
            <a:pPr marL="457200" indent="-457200" algn="just" defTabSz="447675">
              <a:spcBef>
                <a:spcPts val="0"/>
              </a:spcBef>
              <a:buAutoNum type="alphaUcPeriod" startAt="4"/>
            </a:pPr>
            <a:r>
              <a:rPr lang="en-US" sz="2000" dirty="0">
                <a:latin typeface="Cambria" panose="02040503050406030204" pitchFamily="18" charset="0"/>
                <a:ea typeface="Cambria" panose="02040503050406030204" pitchFamily="18" charset="0"/>
              </a:rPr>
              <a:t>Capacity Ability of communities and institutions to respond. Includes Hospitals Cooling shelters Early warning systems Disaster management teams Awareness programs</a:t>
            </a:r>
          </a:p>
          <a:p>
            <a:pPr algn="just">
              <a:spcBef>
                <a:spcPts val="0"/>
              </a:spcBef>
            </a:pPr>
            <a:r>
              <a:rPr lang="en-US" sz="2000" dirty="0">
                <a:solidFill>
                  <a:srgbClr val="C00000"/>
                </a:solidFill>
                <a:latin typeface="Cambria" panose="02040503050406030204" pitchFamily="18" charset="0"/>
                <a:ea typeface="Cambria" panose="02040503050406030204" pitchFamily="18" charset="0"/>
              </a:rPr>
              <a:t>7. Heatwave Preparedness </a:t>
            </a:r>
          </a:p>
          <a:p>
            <a:pPr algn="just">
              <a:lnSpc>
                <a:spcPct val="120000"/>
              </a:lnSpc>
              <a:spcAft>
                <a:spcPts val="800"/>
              </a:spcAft>
            </a:pPr>
            <a:r>
              <a:rPr lang="en-US" sz="2000" dirty="0">
                <a:latin typeface="Cambria" panose="02040503050406030204" pitchFamily="18" charset="0"/>
                <a:ea typeface="Cambria" panose="02040503050406030204" pitchFamily="18" charset="0"/>
              </a:rPr>
              <a:t>Meaning Preparedness refers to actions taken before a heatwave to reduce impacts and save lives.</a:t>
            </a:r>
          </a:p>
          <a:p>
            <a:pPr algn="just" defTabSz="447675">
              <a:lnSpc>
                <a:spcPct val="120000"/>
              </a:lnSpc>
              <a:spcAft>
                <a:spcPts val="800"/>
              </a:spcAft>
            </a:pPr>
            <a:endParaRPr lang="en-US" sz="2000" dirty="0">
              <a:latin typeface="Cambria" panose="02040503050406030204" pitchFamily="18" charset="0"/>
              <a:ea typeface="Cambria" panose="02040503050406030204" pitchFamily="18" charset="0"/>
            </a:endParaRPr>
          </a:p>
          <a:p>
            <a:pPr algn="just" defTabSz="447675">
              <a:lnSpc>
                <a:spcPct val="120000"/>
              </a:lnSpc>
              <a:spcAft>
                <a:spcPts val="800"/>
              </a:spcAft>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12623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6330462"/>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8. Heatwave Preparedness Measures</a:t>
            </a:r>
          </a:p>
          <a:p>
            <a:pPr marL="457200" indent="-457200" algn="just">
              <a:spcBef>
                <a:spcPts val="0"/>
              </a:spcBef>
              <a:buAutoNum type="alphaUcPeriod"/>
            </a:pPr>
            <a:r>
              <a:rPr lang="en-US" sz="2000" dirty="0">
                <a:latin typeface="Cambria" panose="02040503050406030204" pitchFamily="18" charset="0"/>
                <a:ea typeface="Cambria" panose="02040503050406030204" pitchFamily="18" charset="0"/>
              </a:rPr>
              <a:t>Government-Level Preparedness Early Warning Systems Forecast dissemination Color-coded alerts Yellow Alert Orange Alert Red Alert Heat Action Plans Prepared by state and district administrations. Key components : Public awareness Water supply arrangements Health sector readiness Emergency response systems Interdepartmental Coordination Departments involved : Health Revenue Municipal Administration Education Electricity Water Supply Disaster Management.</a:t>
            </a:r>
          </a:p>
          <a:p>
            <a:pPr marL="457200" indent="-457200" algn="just">
              <a:spcBef>
                <a:spcPts val="0"/>
              </a:spcBef>
              <a:buAutoNum type="alphaUcPeriod"/>
            </a:pPr>
            <a:endParaRPr lang="en-US" sz="2000" dirty="0">
              <a:latin typeface="Cambria" panose="02040503050406030204" pitchFamily="18" charset="0"/>
              <a:ea typeface="Cambria" panose="02040503050406030204" pitchFamily="18" charset="0"/>
            </a:endParaRPr>
          </a:p>
          <a:p>
            <a:pPr marL="457200" indent="-457200" algn="just">
              <a:spcBef>
                <a:spcPts val="0"/>
              </a:spcBef>
              <a:buAutoNum type="alphaUcPeriod" startAt="2"/>
            </a:pPr>
            <a:r>
              <a:rPr lang="en-US" sz="2000" dirty="0">
                <a:latin typeface="Cambria" panose="02040503050406030204" pitchFamily="18" charset="0"/>
                <a:ea typeface="Cambria" panose="02040503050406030204" pitchFamily="18" charset="0"/>
              </a:rPr>
              <a:t>Community-Level Preparedness Awareness Programs Avoid going out during peak heat hours Drink sufficient water Wear light-colored clothing Use ORS and fluids Community Measures Public drinking water points Shade structures Cooling centers Volunteer networks</a:t>
            </a:r>
          </a:p>
          <a:p>
            <a:pPr marL="457200" indent="-457200" algn="just">
              <a:spcBef>
                <a:spcPts val="0"/>
              </a:spcBef>
              <a:buAutoNum type="alphaUcPeriod" startAt="2"/>
            </a:pPr>
            <a:endParaRPr lang="en-US" sz="2000" dirty="0">
              <a:latin typeface="Cambria" panose="02040503050406030204" pitchFamily="18" charset="0"/>
              <a:ea typeface="Cambria" panose="02040503050406030204" pitchFamily="18" charset="0"/>
            </a:endParaRPr>
          </a:p>
          <a:p>
            <a:pPr marL="360363" indent="-360363" algn="just">
              <a:spcBef>
                <a:spcPts val="0"/>
              </a:spcBef>
            </a:pPr>
            <a:r>
              <a:rPr lang="en-US" sz="2000" dirty="0">
                <a:solidFill>
                  <a:srgbClr val="C00000"/>
                </a:solidFill>
                <a:latin typeface="Cambria" panose="02040503050406030204" pitchFamily="18" charset="0"/>
                <a:ea typeface="Cambria" panose="02040503050406030204" pitchFamily="18" charset="0"/>
              </a:rPr>
              <a:t>C.  </a:t>
            </a:r>
            <a:r>
              <a:rPr lang="en-US" sz="2000" dirty="0">
                <a:latin typeface="Cambria" panose="02040503050406030204" pitchFamily="18" charset="0"/>
                <a:ea typeface="Cambria" panose="02040503050406030204" pitchFamily="18" charset="0"/>
              </a:rPr>
              <a:t>Household-Level Preparedness Do’s Stay hydrated Use fans and ventilation Eat light food Keep homes cool Don’ts Avoid alcohol and caffeine Avoid strenuous outdoor activity Do not leave children in parked vehicles</a:t>
            </a:r>
          </a:p>
        </p:txBody>
      </p:sp>
    </p:spTree>
    <p:extLst>
      <p:ext uri="{BB962C8B-B14F-4D97-AF65-F5344CB8AC3E}">
        <p14:creationId xmlns:p14="http://schemas.microsoft.com/office/powerpoint/2010/main" val="3479496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6330462"/>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9. Heat Action Plan (HAP)</a:t>
            </a:r>
          </a:p>
          <a:p>
            <a:pPr algn="just">
              <a:lnSpc>
                <a:spcPct val="120000"/>
              </a:lnSpc>
              <a:spcAft>
                <a:spcPts val="800"/>
              </a:spcAft>
            </a:pPr>
            <a:r>
              <a:rPr lang="en-US" sz="2000" dirty="0">
                <a:latin typeface="Cambria" panose="02040503050406030204" pitchFamily="18" charset="0"/>
                <a:ea typeface="Cambria" panose="02040503050406030204" pitchFamily="18" charset="0"/>
              </a:rPr>
              <a:t>A Heat Action Plan is a framework for coordinated action during extreme heat events. Objectives Reduce mortality Improve preparedness Increase public awareness Enhance emergency response Major Components of HAP Early warning and communication Capacity building Public awareness Medical preparedness Inter-agency coordination Monitoring and evaluation</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10</a:t>
            </a:r>
            <a:r>
              <a:rPr lang="en-US" sz="2000" dirty="0">
                <a:latin typeface="Cambria" panose="02040503050406030204" pitchFamily="18" charset="0"/>
                <a:ea typeface="Cambria" panose="02040503050406030204" pitchFamily="18" charset="0"/>
              </a:rPr>
              <a:t>. </a:t>
            </a:r>
            <a:r>
              <a:rPr lang="en-US" sz="2000" dirty="0">
                <a:solidFill>
                  <a:srgbClr val="C00000"/>
                </a:solidFill>
                <a:latin typeface="Cambria" panose="02040503050406030204" pitchFamily="18" charset="0"/>
                <a:ea typeface="Cambria" panose="02040503050406030204" pitchFamily="18" charset="0"/>
              </a:rPr>
              <a:t>Technology Support </a:t>
            </a:r>
            <a:r>
              <a:rPr lang="en-US" sz="2000" dirty="0">
                <a:latin typeface="Cambria" panose="02040503050406030204" pitchFamily="18" charset="0"/>
                <a:ea typeface="Cambria" panose="02040503050406030204" pitchFamily="18" charset="0"/>
              </a:rPr>
              <a:t>in Heatwave Management Technology plays a major role in forecasting, monitoring, warning dissemination, and response.</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11. Weather Forecasting</a:t>
            </a:r>
            <a:r>
              <a:rPr lang="en-US" sz="2000" dirty="0">
                <a:latin typeface="Cambria" panose="02040503050406030204" pitchFamily="18" charset="0"/>
                <a:ea typeface="Cambria" panose="02040503050406030204" pitchFamily="18" charset="0"/>
              </a:rPr>
              <a:t> Technologies Satellite Technology Used for : Temperature monitoring Cloud analysis Atmospheric observation Examples : INSAT satellites Weather satellites Doppler Weather Radar Helps in : Monitoring weather systems Predicting temperature trends Numerical Weather Prediction Models Computer-based climate models used for : Forecasting heatwave intensity Predicting duration</a:t>
            </a:r>
          </a:p>
        </p:txBody>
      </p:sp>
    </p:spTree>
    <p:extLst>
      <p:ext uri="{BB962C8B-B14F-4D97-AF65-F5344CB8AC3E}">
        <p14:creationId xmlns:p14="http://schemas.microsoft.com/office/powerpoint/2010/main" val="2754313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6330462"/>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12. Geographic Information System (GIS)</a:t>
            </a:r>
          </a:p>
          <a:p>
            <a:pPr algn="just">
              <a:lnSpc>
                <a:spcPct val="120000"/>
              </a:lnSpc>
              <a:spcAft>
                <a:spcPts val="800"/>
              </a:spcAft>
            </a:pPr>
            <a:r>
              <a:rPr lang="en-US" sz="2000" dirty="0">
                <a:latin typeface="Cambria" panose="02040503050406030204" pitchFamily="18" charset="0"/>
                <a:ea typeface="Cambria" panose="02040503050406030204" pitchFamily="18" charset="0"/>
              </a:rPr>
              <a:t>	GIS helps in : Heat mapping Identifying vulnerable areas Urban heat island analysis Resource planning Applications Mapping hotspots Identifying slum areas Planning cooling centers</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13. Remote Sensing Remote sensing is used for </a:t>
            </a:r>
            <a:r>
              <a:rPr lang="en-US" sz="2000" dirty="0">
                <a:latin typeface="Cambria" panose="02040503050406030204" pitchFamily="18" charset="0"/>
                <a:ea typeface="Cambria" panose="02040503050406030204" pitchFamily="18" charset="0"/>
              </a:rPr>
              <a:t>: Land surface temperature analysis Vegetation monitoring Drought assessment</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14. Artificial Intelligence (AI) and Data Analytics</a:t>
            </a:r>
          </a:p>
          <a:p>
            <a:pPr algn="just">
              <a:lnSpc>
                <a:spcPct val="120000"/>
              </a:lnSpc>
              <a:spcAft>
                <a:spcPts val="800"/>
              </a:spcAft>
            </a:pPr>
            <a:r>
              <a:rPr lang="en-US" sz="2000" dirty="0">
                <a:latin typeface="Cambria" panose="02040503050406030204" pitchFamily="18" charset="0"/>
                <a:ea typeface="Cambria" panose="02040503050406030204" pitchFamily="18" charset="0"/>
              </a:rPr>
              <a:t>AI is increasingly used for : Predictive heatwave analysis Risk forecasting Health surveillance Decision support systems Examples Mortality prediction Real-time risk alerts Smart city heat monitoring.</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15. Mobile and Communication Technology</a:t>
            </a:r>
          </a:p>
          <a:p>
            <a:pPr algn="just">
              <a:lnSpc>
                <a:spcPct val="120000"/>
              </a:lnSpc>
              <a:spcAft>
                <a:spcPts val="800"/>
              </a:spcAft>
            </a:pPr>
            <a:r>
              <a:rPr lang="en-US" sz="2000" dirty="0">
                <a:latin typeface="Cambria" panose="02040503050406030204" pitchFamily="18" charset="0"/>
                <a:ea typeface="Cambria" panose="02040503050406030204" pitchFamily="18" charset="0"/>
              </a:rPr>
              <a:t>Alert Dissemination SMS alerts Mobile apps Social media WhatsApp advisories Public Information Systems Television Radio LED displays Public address systems.</a:t>
            </a:r>
          </a:p>
        </p:txBody>
      </p:sp>
    </p:spTree>
    <p:extLst>
      <p:ext uri="{BB962C8B-B14F-4D97-AF65-F5344CB8AC3E}">
        <p14:creationId xmlns:p14="http://schemas.microsoft.com/office/powerpoint/2010/main" val="2670187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5345723"/>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16. Health Technology Support </a:t>
            </a:r>
            <a:r>
              <a:rPr lang="en-US" sz="2000" dirty="0">
                <a:latin typeface="Cambria" panose="02040503050406030204" pitchFamily="18" charset="0"/>
                <a:ea typeface="Cambria" panose="02040503050406030204" pitchFamily="18" charset="0"/>
              </a:rPr>
              <a:t>Hospital Preparedness Systems Heatstroke wards Emergency response systems Telemedicine Digital Health Monitoring Heat illness reporting Real-time patient tracking</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17. Urban Planning and Heat Mitigation</a:t>
            </a:r>
            <a:r>
              <a:rPr lang="en-US" sz="2000" dirty="0">
                <a:latin typeface="Cambria" panose="02040503050406030204" pitchFamily="18" charset="0"/>
                <a:ea typeface="Cambria" panose="02040503050406030204" pitchFamily="18" charset="0"/>
              </a:rPr>
              <a:t> Technologies Cool Roof Technology Reflective roofs reduce indoor temperatures. Green Infrastructure Urban forests Parks Green roofs Smart Water Systems Automated water distribution Smart irrigation</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18. Role of Disaster Management </a:t>
            </a:r>
            <a:r>
              <a:rPr lang="en-US" sz="2000" dirty="0">
                <a:latin typeface="Cambria" panose="02040503050406030204" pitchFamily="18" charset="0"/>
                <a:ea typeface="Cambria" panose="02040503050406030204" pitchFamily="18" charset="0"/>
              </a:rPr>
              <a:t>Agencies National Level National Disaster Management Authority prepares guidelines and national strategies. State Level State Disaster Management Authorities implement heatwave mitigation measures. District Level District administrations prepare District Heat Action Plans and coordinate response activities.</a:t>
            </a:r>
          </a:p>
        </p:txBody>
      </p:sp>
    </p:spTree>
    <p:extLst>
      <p:ext uri="{BB962C8B-B14F-4D97-AF65-F5344CB8AC3E}">
        <p14:creationId xmlns:p14="http://schemas.microsoft.com/office/powerpoint/2010/main" val="1804396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5345723"/>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19. International Frameworks Related</a:t>
            </a:r>
            <a:r>
              <a:rPr lang="en-US" sz="2000" dirty="0">
                <a:latin typeface="Cambria" panose="02040503050406030204" pitchFamily="18" charset="0"/>
                <a:ea typeface="Cambria" panose="02040503050406030204" pitchFamily="18" charset="0"/>
              </a:rPr>
              <a:t> to Heatwave Management Paris Agreement Focuses on climate change mitigation. Sendai Framework for Disaster Risk Reduction Promotes disaster risk reduction and resilience. World Health Organization Provides health advisories and heat-health guidance.</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20. Challenges in Heatwave Management</a:t>
            </a:r>
            <a:r>
              <a:rPr lang="en-US" sz="2000" dirty="0">
                <a:latin typeface="Cambria" panose="02040503050406030204" pitchFamily="18" charset="0"/>
                <a:ea typeface="Cambria" panose="02040503050406030204" pitchFamily="18" charset="0"/>
              </a:rPr>
              <a:t> Lack of awareness Urban overcrowding Poor housing conditions Water scarcity Inadequate health infrastructure Climate uncertainty Data limitations</a:t>
            </a:r>
          </a:p>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21. Recommendations Short-Term Measures</a:t>
            </a:r>
            <a:r>
              <a:rPr lang="en-US" sz="2000" dirty="0">
                <a:latin typeface="Cambria" panose="02040503050406030204" pitchFamily="18" charset="0"/>
                <a:ea typeface="Cambria" panose="02040503050406030204" pitchFamily="18" charset="0"/>
              </a:rPr>
              <a:t> Public advisories Drinking water supply Cooling shelters Medical preparedness Long-Term Measures Climate-resilient urban planning Afforestation Sustainable water management Renewable energy use Smart city planning</a:t>
            </a:r>
          </a:p>
        </p:txBody>
      </p:sp>
    </p:spTree>
    <p:extLst>
      <p:ext uri="{BB962C8B-B14F-4D97-AF65-F5344CB8AC3E}">
        <p14:creationId xmlns:p14="http://schemas.microsoft.com/office/powerpoint/2010/main" val="373199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57200"/>
            <a:ext cx="9083661" cy="5846885"/>
          </a:xfrm>
          <a:ln>
            <a:solidFill>
              <a:schemeClr val="accent1"/>
            </a:solidFill>
          </a:ln>
        </p:spPr>
        <p:txBody>
          <a:bodyPr>
            <a:noAutofit/>
          </a:bodyPr>
          <a:lstStyle/>
          <a:p>
            <a:pPr algn="just">
              <a:lnSpc>
                <a:spcPct val="120000"/>
              </a:lnSpc>
              <a:spcAft>
                <a:spcPts val="800"/>
              </a:spcAft>
            </a:pPr>
            <a:r>
              <a:rPr lang="en-US" sz="2000" dirty="0">
                <a:solidFill>
                  <a:srgbClr val="C00000"/>
                </a:solidFill>
                <a:latin typeface="Cambria" panose="02040503050406030204" pitchFamily="18" charset="0"/>
                <a:ea typeface="Cambria" panose="02040503050406030204" pitchFamily="18" charset="0"/>
              </a:rPr>
              <a:t>22. Conclusion</a:t>
            </a:r>
          </a:p>
          <a:p>
            <a:pPr algn="just">
              <a:lnSpc>
                <a:spcPct val="120000"/>
              </a:lnSpc>
              <a:spcAft>
                <a:spcPts val="800"/>
              </a:spcAft>
            </a:pPr>
            <a:r>
              <a:rPr lang="en-US" dirty="0">
                <a:latin typeface="Cambria" panose="02040503050406030204" pitchFamily="18" charset="0"/>
                <a:ea typeface="Cambria" panose="02040503050406030204" pitchFamily="18" charset="0"/>
              </a:rPr>
              <a:t>Heatwaves are becoming more frequent and intense due to climate change and rapid urbanization. Effective preparedness, scientific risk assessment, and advanced technology support are essential to minimize loss of life and economic damage. A coordinated approach involving government agencies, communities, educational institutions, and technology systems is necessary to build heat-resilient societies. Important Key words Heat wave Heat Index Urban Heat Island Heat Action Plan Early Warning System GIS Remote Sensing Vulnerability Resilience Climate Change Disaster Risk Reduction Short Exam Questions Define heatwave and explain IMD criteria. Explain heatwave risk assessment. Discuss impacts of heatwaves on human health. Describe Heat Action Plans. Explain role of GIS in heatwave management. Discuss technology support in heatwave preparedness. Explain urban heat island effect. Write short notes on early warning systems. Long Essay Questions Explain heatwave preparedness measures in detail. Discuss risk assessment methods for heat waves. Describe technological interventions in heatwave disaster management. Analyze the impact of climate change on heatwave occurrence. Explain the role of government agencies in heatwave mitigation and response.</a:t>
            </a:r>
          </a:p>
        </p:txBody>
      </p:sp>
    </p:spTree>
    <p:extLst>
      <p:ext uri="{BB962C8B-B14F-4D97-AF65-F5344CB8AC3E}">
        <p14:creationId xmlns:p14="http://schemas.microsoft.com/office/powerpoint/2010/main" val="415956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958551" y="1713297"/>
            <a:ext cx="9083661" cy="3060834"/>
          </a:xfrm>
          <a:ln>
            <a:solidFill>
              <a:schemeClr val="accent1"/>
            </a:solidFill>
          </a:ln>
        </p:spPr>
        <p:txBody>
          <a:bodyPr>
            <a:noAutofit/>
          </a:bodyPr>
          <a:lstStyle/>
          <a:p>
            <a:pPr algn="just">
              <a:lnSpc>
                <a:spcPct val="120000"/>
              </a:lnSpc>
              <a:spcAft>
                <a:spcPts val="800"/>
              </a:spcAft>
            </a:pPr>
            <a:endParaRPr lang="en-US" sz="1600" dirty="0">
              <a:latin typeface="Cambria" panose="02040503050406030204" pitchFamily="18" charset="0"/>
              <a:ea typeface="Cambria" panose="02040503050406030204" pitchFamily="18" charset="0"/>
            </a:endParaRPr>
          </a:p>
          <a:p>
            <a:pPr algn="ctr">
              <a:spcBef>
                <a:spcPts val="0"/>
              </a:spcBef>
            </a:pPr>
            <a:r>
              <a:rPr lang="en-US" sz="13800" b="1" i="1" dirty="0">
                <a:latin typeface="Britannic Bold" panose="020B0903060703020204" pitchFamily="34" charset="0"/>
                <a:ea typeface="Cambria" panose="02040503050406030204" pitchFamily="18" charset="0"/>
              </a:rPr>
              <a:t>Thank you</a:t>
            </a:r>
          </a:p>
          <a:p>
            <a:pPr algn="ctr">
              <a:spcBef>
                <a:spcPts val="0"/>
              </a:spcBef>
            </a:pPr>
            <a:endParaRPr lang="en-US" sz="1200" b="1" i="1" dirty="0">
              <a:latin typeface="Britannic Bold" panose="020B0903060703020204" pitchFamily="34" charset="0"/>
              <a:ea typeface="Cambria" panose="02040503050406030204" pitchFamily="18" charset="0"/>
            </a:endParaRPr>
          </a:p>
          <a:p>
            <a:pPr algn="r">
              <a:spcBef>
                <a:spcPts val="0"/>
              </a:spcBef>
            </a:pPr>
            <a:endParaRPr lang="en-US" b="1" i="1" dirty="0">
              <a:latin typeface="Britannic Bold" panose="020B0903060703020204" pitchFamily="34" charset="0"/>
              <a:ea typeface="Cambria" panose="02040503050406030204" pitchFamily="18" charset="0"/>
            </a:endParaRPr>
          </a:p>
          <a:p>
            <a:pPr algn="r">
              <a:spcBef>
                <a:spcPts val="0"/>
              </a:spcBef>
            </a:pPr>
            <a:endParaRPr lang="en-US" b="1" i="1" dirty="0">
              <a:latin typeface="Britannic Bold" panose="020B0903060703020204" pitchFamily="34" charset="0"/>
              <a:ea typeface="Cambria" panose="02040503050406030204" pitchFamily="18" charset="0"/>
            </a:endParaRPr>
          </a:p>
          <a:p>
            <a:pPr>
              <a:spcBef>
                <a:spcPts val="0"/>
              </a:spcBef>
            </a:pPr>
            <a:r>
              <a:rPr lang="en-US" sz="3200" b="1" i="1" dirty="0">
                <a:latin typeface="Britannic Bold" panose="020B0903060703020204" pitchFamily="34" charset="0"/>
                <a:ea typeface="Cambria" panose="02040503050406030204" pitchFamily="18" charset="0"/>
              </a:rPr>
              <a:t>                                                    R. Sudhakar</a:t>
            </a:r>
          </a:p>
          <a:p>
            <a:pPr algn="r">
              <a:spcBef>
                <a:spcPts val="0"/>
              </a:spcBef>
            </a:pPr>
            <a:r>
              <a:rPr lang="en-US" sz="3200" b="1" i="1" dirty="0">
                <a:latin typeface="Britannic Bold" panose="020B0903060703020204" pitchFamily="34" charset="0"/>
                <a:ea typeface="Cambria" panose="02040503050406030204" pitchFamily="18" charset="0"/>
              </a:rPr>
              <a:t>DFO, </a:t>
            </a:r>
            <a:r>
              <a:rPr lang="en-US" sz="3200" b="1" i="1" dirty="0" err="1">
                <a:latin typeface="Britannic Bold" panose="020B0903060703020204" pitchFamily="34" charset="0"/>
                <a:ea typeface="Cambria" panose="02040503050406030204" pitchFamily="18" charset="0"/>
              </a:rPr>
              <a:t>Kamareddy</a:t>
            </a:r>
            <a:endParaRPr lang="en-US" sz="3200" b="1" i="1" dirty="0">
              <a:latin typeface="Britannic Bold" panose="020B0903060703020204" pitchFamily="34" charset="0"/>
              <a:ea typeface="Cambria" panose="02040503050406030204" pitchFamily="18" charset="0"/>
            </a:endParaRPr>
          </a:p>
        </p:txBody>
      </p:sp>
    </p:spTree>
    <p:extLst>
      <p:ext uri="{BB962C8B-B14F-4D97-AF65-F5344CB8AC3E}">
        <p14:creationId xmlns:p14="http://schemas.microsoft.com/office/powerpoint/2010/main" val="16261147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216</TotalTime>
  <Words>1201</Words>
  <Application>Microsoft Office PowerPoint</Application>
  <PresentationFormat>Widescreen</PresentationFormat>
  <Paragraphs>58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Britannic Bold</vt:lpstr>
      <vt:lpstr>Calibri</vt:lpstr>
      <vt:lpstr>Cambria</vt:lpstr>
      <vt:lpstr>Century Gothic</vt:lpstr>
      <vt:lpstr>Wingdings 3</vt:lpstr>
      <vt:lpstr>Wisp</vt:lpstr>
      <vt:lpstr>Heatwave Preparedness, Risk Assessment, and Technology  Support Notes for Graduate-Level Students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fireoffice</dc:creator>
  <cp:lastModifiedBy>fireoffice</cp:lastModifiedBy>
  <cp:revision>36</cp:revision>
  <cp:lastPrinted>2026-05-15T11:45:20Z</cp:lastPrinted>
  <dcterms:created xsi:type="dcterms:W3CDTF">2026-05-14T04:42:45Z</dcterms:created>
  <dcterms:modified xsi:type="dcterms:W3CDTF">2026-05-16T10:20:33Z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419a82f1827c41dea42f4fd71f876ed3</vt:lpwstr>
  </property>
</Properties>
</file>