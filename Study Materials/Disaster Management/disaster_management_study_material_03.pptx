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3"/>
  </p:notesMasterIdLst>
  <p:sldIdLst>
    <p:sldId id="256" r:id="rId2"/>
    <p:sldId id="261" r:id="rId3"/>
    <p:sldId id="257" r:id="rId4"/>
    <p:sldId id="262" r:id="rId5"/>
    <p:sldId id="258" r:id="rId6"/>
    <p:sldId id="263" r:id="rId7"/>
    <p:sldId id="264" r:id="rId8"/>
    <p:sldId id="259" r:id="rId9"/>
    <p:sldId id="265" r:id="rId10"/>
    <p:sldId id="266" r:id="rId11"/>
    <p:sldId id="260" r:id="rId12"/>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109" d="100"/>
          <a:sy n="109"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3" name="Rectangle 2"/>
          <p:cNvSpPr>
            <a:spLocks noGrp="1" noChangeArrowheads="1"/>
          </p:cNvSpPr>
          <p:nvPr>
            <p:ph type="hdr" sz="quarter"/>
          </p:nvPr>
        </p:nvSpPr>
        <p:spPr bwMode="auto">
          <a:xfrm>
            <a:off x="2" y="1"/>
            <a:ext cx="3049513" cy="556651"/>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54" name="Rectangle 3"/>
          <p:cNvSpPr>
            <a:spLocks noGrp="1" noChangeArrowheads="1"/>
          </p:cNvSpPr>
          <p:nvPr>
            <p:ph type="dt" idx="1"/>
          </p:nvPr>
        </p:nvSpPr>
        <p:spPr bwMode="auto">
          <a:xfrm>
            <a:off x="3985768" y="1"/>
            <a:ext cx="3049513" cy="556651"/>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55" name="Rectangle 4"/>
          <p:cNvSpPr>
            <a:spLocks noGrp="1" noRot="1" noChangeAspect="1" noChangeArrowheads="1" noTextEdit="1"/>
          </p:cNvSpPr>
          <p:nvPr>
            <p:ph type="sldImg" idx="2"/>
          </p:nvPr>
        </p:nvSpPr>
        <p:spPr bwMode="auto">
          <a:xfrm>
            <a:off x="-184150" y="831850"/>
            <a:ext cx="7405688" cy="4167188"/>
          </a:xfrm>
          <a:prstGeom prst="rect">
            <a:avLst/>
          </a:prstGeom>
          <a:noFill/>
          <a:ln w="9525">
            <a:solidFill>
              <a:srgbClr val="000000"/>
            </a:solidFill>
            <a:miter lim="800000"/>
            <a:headEnd/>
            <a:tailEnd/>
          </a:ln>
          <a:effectLst/>
        </p:spPr>
      </p:sp>
      <p:sp>
        <p:nvSpPr>
          <p:cNvPr id="1048656" name="Rectangle 5"/>
          <p:cNvSpPr>
            <a:spLocks noGrp="1" noChangeArrowheads="1"/>
          </p:cNvSpPr>
          <p:nvPr>
            <p:ph type="body" sz="quarter" idx="3"/>
          </p:nvPr>
        </p:nvSpPr>
        <p:spPr bwMode="auto">
          <a:xfrm>
            <a:off x="703373" y="5278699"/>
            <a:ext cx="5630111" cy="4999509"/>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7" name="Rectangle 6"/>
          <p:cNvSpPr>
            <a:spLocks noGrp="1" noChangeArrowheads="1"/>
          </p:cNvSpPr>
          <p:nvPr>
            <p:ph type="ftr" sz="quarter" idx="4"/>
          </p:nvPr>
        </p:nvSpPr>
        <p:spPr bwMode="auto">
          <a:xfrm>
            <a:off x="2" y="10552225"/>
            <a:ext cx="3049513" cy="556649"/>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58" name="Rectangle 7"/>
          <p:cNvSpPr>
            <a:spLocks noGrp="1" noChangeArrowheads="1"/>
          </p:cNvSpPr>
          <p:nvPr>
            <p:ph type="sldNum" sz="quarter" idx="5"/>
          </p:nvPr>
        </p:nvSpPr>
        <p:spPr bwMode="auto">
          <a:xfrm>
            <a:off x="3985768" y="10552225"/>
            <a:ext cx="3049513" cy="556649"/>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1893355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754204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7FD82E-05B5-4455-9970-9767CC6AB459}"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550143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7FD82E-05B5-4455-9970-9767CC6AB459}"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1754110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7FD82E-05B5-4455-9970-9767CC6AB459}" type="datetimeFigureOut">
              <a:rPr lang="en-IN" smtClean="0"/>
              <a:t>15-05-2026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965322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7FD82E-05B5-4455-9970-9767CC6AB459}" type="datetimeFigureOut">
              <a:rPr lang="en-IN" smtClean="0"/>
              <a:t>15-05-2026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496994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7FD82E-05B5-4455-9970-9767CC6AB459}" type="datetimeFigureOut">
              <a:rPr lang="en-IN" smtClean="0"/>
              <a:t>15-05-2026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677746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157725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3042344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7FD82E-05B5-4455-9970-9767CC6AB459}"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3133294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7FD82E-05B5-4455-9970-9767CC6AB459}"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49554F-2D27-4008-94A8-E71C528EED77}"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38065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17357315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99185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521461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83958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4140092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E7FD82E-05B5-4455-9970-9767CC6AB459}" type="datetimeFigureOut">
              <a:rPr lang="en-IN" smtClean="0"/>
              <a:t>15-05-2026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049554F-2D27-4008-94A8-E71C528EED77}" type="slidenum">
              <a:rPr lang="en-IN" smtClean="0"/>
              <a:t>‹#›</a:t>
            </a:fld>
            <a:endParaRPr lang="en-IN"/>
          </a:p>
        </p:txBody>
      </p:sp>
    </p:spTree>
    <p:extLst>
      <p:ext uri="{BB962C8B-B14F-4D97-AF65-F5344CB8AC3E}">
        <p14:creationId xmlns:p14="http://schemas.microsoft.com/office/powerpoint/2010/main" val="270877939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1494692" y="277907"/>
            <a:ext cx="9460523" cy="891470"/>
          </a:xfrm>
        </p:spPr>
        <p:txBody>
          <a:bodyPr>
            <a:noAutofit/>
          </a:bodyPr>
          <a:lstStyle/>
          <a:p>
            <a:pPr algn="ctr"/>
            <a:r>
              <a:rPr lang="en-US" sz="2800" b="1" u="sng" dirty="0">
                <a:solidFill>
                  <a:srgbClr val="002060"/>
                </a:solidFill>
                <a:latin typeface="Cambria" panose="02040503050406030204" pitchFamily="18" charset="0"/>
                <a:ea typeface="Cambria" panose="02040503050406030204" pitchFamily="18" charset="0"/>
              </a:rPr>
              <a:t>“Understanding Heat Waves from the</a:t>
            </a:r>
            <a:br>
              <a:rPr lang="en-US" sz="2800" b="1" u="sng" dirty="0">
                <a:solidFill>
                  <a:srgbClr val="002060"/>
                </a:solidFill>
                <a:latin typeface="Cambria" panose="02040503050406030204" pitchFamily="18" charset="0"/>
                <a:ea typeface="Cambria" panose="02040503050406030204" pitchFamily="18" charset="0"/>
              </a:rPr>
            </a:br>
            <a:r>
              <a:rPr lang="en-US" sz="2800" b="1" u="sng" dirty="0">
                <a:solidFill>
                  <a:srgbClr val="002060"/>
                </a:solidFill>
                <a:latin typeface="Cambria" panose="02040503050406030204" pitchFamily="18" charset="0"/>
                <a:ea typeface="Cambria" panose="02040503050406030204" pitchFamily="18" charset="0"/>
              </a:rPr>
              <a:t> Ground Perspective”</a:t>
            </a:r>
            <a:endParaRPr lang="en-IN" sz="2800" b="1" u="sng" dirty="0">
              <a:solidFill>
                <a:srgbClr val="002060"/>
              </a:solidFill>
              <a:latin typeface="Cambria" panose="02040503050406030204" pitchFamily="18" charset="0"/>
              <a:ea typeface="Cambria" panose="02040503050406030204" pitchFamily="18" charset="0"/>
            </a:endParaRPr>
          </a:p>
        </p:txBody>
      </p:sp>
      <p:sp>
        <p:nvSpPr>
          <p:cNvPr id="1048587" name="Subtitle 2"/>
          <p:cNvSpPr>
            <a:spLocks noGrp="1"/>
          </p:cNvSpPr>
          <p:nvPr>
            <p:ph type="subTitle" idx="1"/>
          </p:nvPr>
        </p:nvSpPr>
        <p:spPr>
          <a:xfrm>
            <a:off x="1766046" y="1830688"/>
            <a:ext cx="9083661" cy="3761220"/>
          </a:xfrm>
          <a:ln>
            <a:solidFill>
              <a:schemeClr val="accent1"/>
            </a:solidFill>
          </a:ln>
        </p:spPr>
        <p:txBody>
          <a:bodyPr>
            <a:noAutofit/>
          </a:bodyPr>
          <a:lstStyle/>
          <a:p>
            <a:pPr marL="342900" indent="-342900" algn="just">
              <a:lnSpc>
                <a:spcPct val="120000"/>
              </a:lnSpc>
              <a:spcAft>
                <a:spcPts val="800"/>
              </a:spcAft>
              <a:buAutoNum type="arabicPeriod"/>
            </a:pPr>
            <a:r>
              <a:rPr lang="en-US" sz="2800" dirty="0">
                <a:solidFill>
                  <a:srgbClr val="C00000"/>
                </a:solidFill>
                <a:latin typeface="Cambria" panose="02040503050406030204" pitchFamily="18" charset="0"/>
                <a:ea typeface="Cambria" panose="02040503050406030204" pitchFamily="18" charset="0"/>
              </a:rPr>
              <a:t>Introduction and Objectives – 1</a:t>
            </a:r>
          </a:p>
          <a:p>
            <a:pPr algn="just">
              <a:lnSpc>
                <a:spcPct val="120000"/>
              </a:lnSpc>
              <a:spcAft>
                <a:spcPts val="800"/>
              </a:spcAft>
            </a:pPr>
            <a:r>
              <a:rPr lang="en-US" sz="2800" dirty="0">
                <a:latin typeface="Cambria" panose="02040503050406030204" pitchFamily="18" charset="0"/>
                <a:ea typeface="Cambria" panose="02040503050406030204" pitchFamily="18" charset="0"/>
              </a:rPr>
              <a:t>Topics Welcome and brief introduction Meaning of heat wave. Why heat waves are becoming frequent Importance for field officers, disaster managers, firefighters, health staff, and local administration.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647700"/>
            <a:ext cx="9083661" cy="4944208"/>
          </a:xfrm>
          <a:ln>
            <a:solidFill>
              <a:schemeClr val="accent1"/>
            </a:solidFill>
          </a:ln>
        </p:spPr>
        <p:txBody>
          <a:bodyPr>
            <a:noAutofit/>
          </a:bodyPr>
          <a:lstStyle/>
          <a:p>
            <a:pPr algn="just">
              <a:lnSpc>
                <a:spcPct val="120000"/>
              </a:lnSpc>
              <a:spcAft>
                <a:spcPts val="800"/>
              </a:spcAft>
            </a:pPr>
            <a:r>
              <a:rPr lang="en-US" sz="2800" dirty="0">
                <a:solidFill>
                  <a:srgbClr val="C00000"/>
                </a:solidFill>
                <a:latin typeface="Cambria" panose="02040503050406030204" pitchFamily="18" charset="0"/>
                <a:ea typeface="Cambria" panose="02040503050406030204" pitchFamily="18" charset="0"/>
              </a:rPr>
              <a:t>2. Basics of Heat Waves – Topics</a:t>
            </a:r>
          </a:p>
          <a:p>
            <a:pPr algn="just">
              <a:lnSpc>
                <a:spcPct val="120000"/>
              </a:lnSpc>
              <a:spcAft>
                <a:spcPts val="800"/>
              </a:spcAft>
            </a:pPr>
            <a:r>
              <a:rPr lang="en-US" sz="2800" dirty="0">
                <a:latin typeface="Cambria" panose="02040503050406030204" pitchFamily="18" charset="0"/>
                <a:ea typeface="Cambria" panose="02040503050406030204" pitchFamily="18" charset="0"/>
              </a:rPr>
              <a:t>Definition of heat wave Criteria used by the India Meteorological Department.</a:t>
            </a:r>
          </a:p>
          <a:p>
            <a:pPr algn="just">
              <a:lnSpc>
                <a:spcPct val="120000"/>
              </a:lnSpc>
              <a:spcAft>
                <a:spcPts val="800"/>
              </a:spcAft>
            </a:pPr>
            <a:r>
              <a:rPr lang="en-US" sz="2800" dirty="0">
                <a:solidFill>
                  <a:srgbClr val="C00000"/>
                </a:solidFill>
                <a:latin typeface="Cambria" panose="02040503050406030204" pitchFamily="18" charset="0"/>
                <a:ea typeface="Cambria" panose="02040503050406030204" pitchFamily="18" charset="0"/>
              </a:rPr>
              <a:t>Difference between</a:t>
            </a:r>
            <a:r>
              <a:rPr lang="en-US" sz="2800" dirty="0">
                <a:latin typeface="Cambria" panose="02040503050406030204" pitchFamily="18" charset="0"/>
                <a:ea typeface="Cambria" panose="02040503050406030204" pitchFamily="18" charset="0"/>
              </a:rPr>
              <a:t>: </a:t>
            </a:r>
          </a:p>
          <a:p>
            <a:pPr algn="just">
              <a:lnSpc>
                <a:spcPct val="120000"/>
              </a:lnSpc>
              <a:spcAft>
                <a:spcPts val="800"/>
              </a:spcAft>
            </a:pPr>
            <a:r>
              <a:rPr lang="en-US" sz="2800" dirty="0">
                <a:latin typeface="Cambria" panose="02040503050406030204" pitchFamily="18" charset="0"/>
                <a:ea typeface="Cambria" panose="02040503050406030204" pitchFamily="18" charset="0"/>
              </a:rPr>
              <a:t>Heat wave Severe heat wave Heat index Dry heat vs humid heat Causes of heat waves Climate change Urban heat island effect Deforestation Changing weather patterns Visual Explanation.</a:t>
            </a: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40827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395653"/>
            <a:ext cx="9083661" cy="6157547"/>
          </a:xfrm>
          <a:ln>
            <a:solidFill>
              <a:schemeClr val="accent1"/>
            </a:solidFill>
          </a:ln>
        </p:spPr>
        <p:txBody>
          <a:bodyPr>
            <a:noAutofit/>
          </a:bodyPr>
          <a:lstStyle/>
          <a:p>
            <a:pPr algn="just">
              <a:lnSpc>
                <a:spcPct val="120000"/>
              </a:lnSpc>
              <a:spcAft>
                <a:spcPts val="800"/>
              </a:spcAft>
            </a:pPr>
            <a:r>
              <a:rPr lang="en-IN" sz="2800" dirty="0">
                <a:solidFill>
                  <a:srgbClr val="C00000"/>
                </a:solidFill>
                <a:latin typeface="Cambria" panose="02040503050406030204" pitchFamily="18" charset="0"/>
                <a:ea typeface="Cambria" panose="02040503050406030204" pitchFamily="18" charset="0"/>
              </a:rPr>
              <a:t>3. Ground Reality During Heat Waves Topics</a:t>
            </a:r>
          </a:p>
          <a:p>
            <a:pPr algn="just">
              <a:lnSpc>
                <a:spcPct val="120000"/>
              </a:lnSpc>
              <a:spcAft>
                <a:spcPts val="800"/>
              </a:spcAft>
            </a:pPr>
            <a:r>
              <a:rPr lang="en-IN" sz="2800" dirty="0">
                <a:solidFill>
                  <a:srgbClr val="C00000"/>
                </a:solidFill>
                <a:latin typeface="Cambria" panose="02040503050406030204" pitchFamily="18" charset="0"/>
                <a:ea typeface="Cambria" panose="02040503050406030204" pitchFamily="18" charset="0"/>
              </a:rPr>
              <a:t> </a:t>
            </a:r>
            <a:r>
              <a:rPr lang="en-IN" sz="2800" dirty="0">
                <a:latin typeface="Cambria" panose="02040503050406030204" pitchFamily="18" charset="0"/>
                <a:ea typeface="Cambria" panose="02040503050406030204" pitchFamily="18" charset="0"/>
              </a:rPr>
              <a:t>Conditions observed at field level Challenges faced by:</a:t>
            </a:r>
          </a:p>
          <a:p>
            <a:pPr algn="just">
              <a:lnSpc>
                <a:spcPct val="120000"/>
              </a:lnSpc>
              <a:spcAft>
                <a:spcPts val="800"/>
              </a:spcAft>
            </a:pPr>
            <a:r>
              <a:rPr lang="en-IN" sz="2800" dirty="0">
                <a:latin typeface="Cambria" panose="02040503050406030204" pitchFamily="18" charset="0"/>
                <a:ea typeface="Cambria" panose="02040503050406030204" pitchFamily="18" charset="0"/>
              </a:rPr>
              <a:t>Fire service personnel Police Municipal workers Health workers Daily wage laborers Farmers Water scarcity and dehydration Power failures and transformer overheating Increase in fire accidents Stress on emergency services.</a:t>
            </a:r>
          </a:p>
          <a:p>
            <a:pPr algn="just">
              <a:lnSpc>
                <a:spcPct val="120000"/>
              </a:lnSpc>
              <a:spcAft>
                <a:spcPts val="800"/>
              </a:spcAft>
            </a:pPr>
            <a:r>
              <a:rPr lang="en-IN" sz="2800" dirty="0">
                <a:solidFill>
                  <a:srgbClr val="C00000"/>
                </a:solidFill>
                <a:latin typeface="Cambria" panose="02040503050406030204" pitchFamily="18" charset="0"/>
                <a:ea typeface="Cambria" panose="02040503050406030204" pitchFamily="18" charset="0"/>
              </a:rPr>
              <a:t>Vulnerable groups: </a:t>
            </a:r>
            <a:r>
              <a:rPr lang="en-IN" sz="2800" dirty="0">
                <a:latin typeface="Cambria" panose="02040503050406030204" pitchFamily="18" charset="0"/>
                <a:ea typeface="Cambria" panose="02040503050406030204" pitchFamily="18" charset="0"/>
              </a:rPr>
              <a:t>Elderly </a:t>
            </a:r>
            <a:r>
              <a:rPr lang="en-IN" sz="2800" dirty="0" err="1">
                <a:latin typeface="Cambria" panose="02040503050406030204" pitchFamily="18" charset="0"/>
                <a:ea typeface="Cambria" panose="02040503050406030204" pitchFamily="18" charset="0"/>
              </a:rPr>
              <a:t>ChildrenPregnant</a:t>
            </a:r>
            <a:r>
              <a:rPr lang="en-IN" sz="2800" dirty="0">
                <a:latin typeface="Cambria" panose="02040503050406030204" pitchFamily="18" charset="0"/>
                <a:ea typeface="Cambria" panose="02040503050406030204" pitchFamily="18" charset="0"/>
              </a:rPr>
              <a:t> women Outdoor workers Homeless people Case Discussion Real-life incidents from Telangana/Andhra Pradesh Summer fire accidents and heat exhaustion cases.</a:t>
            </a:r>
          </a:p>
        </p:txBody>
      </p:sp>
    </p:spTree>
    <p:extLst>
      <p:ext uri="{BB962C8B-B14F-4D97-AF65-F5344CB8AC3E}">
        <p14:creationId xmlns:p14="http://schemas.microsoft.com/office/powerpoint/2010/main" val="3371558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395653"/>
            <a:ext cx="9083661" cy="5319347"/>
          </a:xfrm>
          <a:ln>
            <a:solidFill>
              <a:schemeClr val="accent1"/>
            </a:solidFill>
          </a:ln>
        </p:spPr>
        <p:txBody>
          <a:bodyPr>
            <a:noAutofit/>
          </a:bodyPr>
          <a:lstStyle/>
          <a:p>
            <a:pPr algn="just">
              <a:lnSpc>
                <a:spcPct val="120000"/>
              </a:lnSpc>
              <a:spcAft>
                <a:spcPts val="800"/>
              </a:spcAft>
            </a:pPr>
            <a:endParaRPr lang="en-US" sz="2800" dirty="0">
              <a:solidFill>
                <a:srgbClr val="C00000"/>
              </a:solidFill>
              <a:latin typeface="Cambria" panose="02040503050406030204" pitchFamily="18" charset="0"/>
              <a:ea typeface="Cambria" panose="02040503050406030204" pitchFamily="18" charset="0"/>
            </a:endParaRPr>
          </a:p>
          <a:p>
            <a:pPr algn="just">
              <a:lnSpc>
                <a:spcPct val="120000"/>
              </a:lnSpc>
              <a:spcAft>
                <a:spcPts val="800"/>
              </a:spcAft>
            </a:pPr>
            <a:r>
              <a:rPr lang="en-US" sz="2800" dirty="0">
                <a:solidFill>
                  <a:srgbClr val="C00000"/>
                </a:solidFill>
                <a:latin typeface="Cambria" panose="02040503050406030204" pitchFamily="18" charset="0"/>
                <a:ea typeface="Cambria" panose="02040503050406030204" pitchFamily="18" charset="0"/>
              </a:rPr>
              <a:t>4. Health Effects of Heat Waves Topics</a:t>
            </a:r>
          </a:p>
          <a:p>
            <a:pPr algn="just">
              <a:lnSpc>
                <a:spcPct val="120000"/>
              </a:lnSpc>
              <a:spcAft>
                <a:spcPts val="800"/>
              </a:spcAft>
            </a:pPr>
            <a:r>
              <a:rPr lang="en-US" sz="2800" dirty="0">
                <a:latin typeface="Cambria" panose="02040503050406030204" pitchFamily="18" charset="0"/>
                <a:ea typeface="Cambria" panose="02040503050406030204" pitchFamily="18" charset="0"/>
              </a:rPr>
              <a:t>Heat cramps Heat exhaustion Heat stroke Dehydration Symptoms and warning signs First aid measures Emergency medical response Practical Demonstration ORS preparation Cooling techniques Handling unconscious heat stroke victims Important Formula Heat-related risk often increases rapidly with temperature rise.</a:t>
            </a: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71852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749300"/>
            <a:ext cx="9083661" cy="5238262"/>
          </a:xfrm>
          <a:ln>
            <a:solidFill>
              <a:schemeClr val="accent1"/>
            </a:solidFill>
          </a:ln>
        </p:spPr>
        <p:txBody>
          <a:bodyPr>
            <a:noAutofit/>
          </a:bodyPr>
          <a:lstStyle/>
          <a:p>
            <a:pPr algn="just">
              <a:lnSpc>
                <a:spcPct val="120000"/>
              </a:lnSpc>
              <a:spcAft>
                <a:spcPts val="800"/>
              </a:spcAft>
            </a:pPr>
            <a:r>
              <a:rPr lang="en-IN" sz="2800" dirty="0">
                <a:solidFill>
                  <a:srgbClr val="C00000"/>
                </a:solidFill>
                <a:latin typeface="Cambria" panose="02040503050406030204" pitchFamily="18" charset="0"/>
                <a:ea typeface="Cambria" panose="02040503050406030204" pitchFamily="18" charset="0"/>
              </a:rPr>
              <a:t>5. Heat Waves and Fire Incidents Topics</a:t>
            </a:r>
          </a:p>
          <a:p>
            <a:pPr algn="just">
              <a:lnSpc>
                <a:spcPct val="120000"/>
              </a:lnSpc>
              <a:spcAft>
                <a:spcPts val="800"/>
              </a:spcAft>
            </a:pPr>
            <a:r>
              <a:rPr lang="en-IN" sz="2800" dirty="0">
                <a:latin typeface="Cambria" panose="02040503050406030204" pitchFamily="18" charset="0"/>
                <a:ea typeface="Cambria" panose="02040503050406030204" pitchFamily="18" charset="0"/>
              </a:rPr>
              <a:t>Relation between heat waves and fire accidents Common summer fire causes: Electrical overload Dry vegetation Careless smoking Storage hazards Fire risk </a:t>
            </a:r>
            <a:r>
              <a:rPr lang="en-IN" sz="2800" dirty="0" err="1">
                <a:latin typeface="Cambria" panose="02040503050406030204" pitchFamily="18" charset="0"/>
                <a:ea typeface="Cambria" panose="02040503050406030204" pitchFamily="18" charset="0"/>
              </a:rPr>
              <a:t>in:Markets</a:t>
            </a:r>
            <a:r>
              <a:rPr lang="en-IN" sz="2800" dirty="0">
                <a:latin typeface="Cambria" panose="02040503050406030204" pitchFamily="18" charset="0"/>
                <a:ea typeface="Cambria" panose="02040503050406030204" pitchFamily="18" charset="0"/>
              </a:rPr>
              <a:t> </a:t>
            </a:r>
            <a:r>
              <a:rPr lang="en-IN" sz="2800" dirty="0" err="1">
                <a:latin typeface="Cambria" panose="02040503050406030204" pitchFamily="18" charset="0"/>
                <a:ea typeface="Cambria" panose="02040503050406030204" pitchFamily="18" charset="0"/>
              </a:rPr>
              <a:t>WarehousesForest</a:t>
            </a:r>
            <a:r>
              <a:rPr lang="en-IN" sz="2800" dirty="0">
                <a:latin typeface="Cambria" panose="02040503050406030204" pitchFamily="18" charset="0"/>
                <a:ea typeface="Cambria" panose="02040503050406030204" pitchFamily="18" charset="0"/>
              </a:rPr>
              <a:t> areas Industrial units Fire Service Preparedness Water management PPE during extreme heat Crew rotation Hydration protocols Visuals.</a:t>
            </a:r>
          </a:p>
        </p:txBody>
      </p:sp>
    </p:spTree>
    <p:extLst>
      <p:ext uri="{BB962C8B-B14F-4D97-AF65-F5344CB8AC3E}">
        <p14:creationId xmlns:p14="http://schemas.microsoft.com/office/powerpoint/2010/main" val="4180847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685800"/>
            <a:ext cx="9083661" cy="5130800"/>
          </a:xfrm>
          <a:ln>
            <a:solidFill>
              <a:schemeClr val="accent1"/>
            </a:solidFill>
          </a:ln>
        </p:spPr>
        <p:txBody>
          <a:bodyPr>
            <a:noAutofit/>
          </a:bodyPr>
          <a:lstStyle/>
          <a:p>
            <a:pPr algn="just">
              <a:lnSpc>
                <a:spcPct val="120000"/>
              </a:lnSpc>
              <a:spcAft>
                <a:spcPts val="800"/>
              </a:spcAft>
            </a:pPr>
            <a:r>
              <a:rPr lang="en-US" sz="2800" dirty="0">
                <a:solidFill>
                  <a:srgbClr val="C00000"/>
                </a:solidFill>
                <a:latin typeface="Cambria" panose="02040503050406030204" pitchFamily="18" charset="0"/>
                <a:ea typeface="Cambria" panose="02040503050406030204" pitchFamily="18" charset="0"/>
              </a:rPr>
              <a:t>6. Government Preparedness and Disaster Management Topics</a:t>
            </a:r>
          </a:p>
          <a:p>
            <a:pPr algn="just">
              <a:lnSpc>
                <a:spcPct val="120000"/>
              </a:lnSpc>
              <a:spcAft>
                <a:spcPts val="800"/>
              </a:spcAft>
            </a:pPr>
            <a:r>
              <a:rPr lang="en-US" sz="2800" dirty="0">
                <a:latin typeface="Cambria" panose="02040503050406030204" pitchFamily="18" charset="0"/>
                <a:ea typeface="Cambria" panose="02040503050406030204" pitchFamily="18" charset="0"/>
              </a:rPr>
              <a:t>Heat Action Plans Role of District Administration Role of Fire Services Coordination among departments Early warning systems Public awareness campaigns School and workplace advisories Agencies Involved National Disaster Management Authority India Meteorological Department State Disaster Management Authorities Health Department Municipal bodies.</a:t>
            </a:r>
          </a:p>
        </p:txBody>
      </p:sp>
    </p:spTree>
    <p:extLst>
      <p:ext uri="{BB962C8B-B14F-4D97-AF65-F5344CB8AC3E}">
        <p14:creationId xmlns:p14="http://schemas.microsoft.com/office/powerpoint/2010/main" val="213890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95300"/>
            <a:ext cx="9083661" cy="5492262"/>
          </a:xfrm>
          <a:ln>
            <a:solidFill>
              <a:schemeClr val="accent1"/>
            </a:solidFill>
          </a:ln>
        </p:spPr>
        <p:txBody>
          <a:bodyPr>
            <a:noAutofit/>
          </a:bodyPr>
          <a:lstStyle/>
          <a:p>
            <a:pPr algn="just">
              <a:lnSpc>
                <a:spcPct val="120000"/>
              </a:lnSpc>
              <a:spcAft>
                <a:spcPts val="800"/>
              </a:spcAft>
            </a:pPr>
            <a:endParaRPr lang="en-US" sz="2800" dirty="0">
              <a:solidFill>
                <a:srgbClr val="C00000"/>
              </a:solidFill>
              <a:latin typeface="Cambria" panose="02040503050406030204" pitchFamily="18" charset="0"/>
              <a:ea typeface="Cambria" panose="02040503050406030204" pitchFamily="18" charset="0"/>
            </a:endParaRPr>
          </a:p>
          <a:p>
            <a:pPr algn="just">
              <a:lnSpc>
                <a:spcPct val="120000"/>
              </a:lnSpc>
              <a:spcAft>
                <a:spcPts val="800"/>
              </a:spcAft>
            </a:pPr>
            <a:r>
              <a:rPr lang="en-US" sz="2800" dirty="0">
                <a:solidFill>
                  <a:srgbClr val="C00000"/>
                </a:solidFill>
                <a:latin typeface="Cambria" panose="02040503050406030204" pitchFamily="18" charset="0"/>
                <a:ea typeface="Cambria" panose="02040503050406030204" pitchFamily="18" charset="0"/>
              </a:rPr>
              <a:t>7. Community-Level Mitigation Measures Topics</a:t>
            </a:r>
          </a:p>
          <a:p>
            <a:pPr algn="just">
              <a:lnSpc>
                <a:spcPct val="120000"/>
              </a:lnSpc>
              <a:spcAft>
                <a:spcPts val="800"/>
              </a:spcAft>
            </a:pPr>
            <a:r>
              <a:rPr lang="en-US" sz="2800" dirty="0">
                <a:latin typeface="Cambria" panose="02040503050406030204" pitchFamily="18" charset="0"/>
                <a:ea typeface="Cambria" panose="02040503050406030204" pitchFamily="18" charset="0"/>
              </a:rPr>
              <a:t>Do’s and Don’ts during heat waves Hydration practices Avoiding peak-hour exposure Community cooling centers Plantation and shade creation Water distribution points Public awareness through social media and local announcements Activity Group discussion: “What practical measures can be implemented at district and village level?”.</a:t>
            </a: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73127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889000"/>
            <a:ext cx="9083661" cy="4902200"/>
          </a:xfrm>
          <a:ln>
            <a:solidFill>
              <a:schemeClr val="accent1"/>
            </a:solidFill>
          </a:ln>
        </p:spPr>
        <p:txBody>
          <a:bodyPr>
            <a:noAutofit/>
          </a:bodyPr>
          <a:lstStyle/>
          <a:p>
            <a:pPr algn="just">
              <a:lnSpc>
                <a:spcPct val="120000"/>
              </a:lnSpc>
              <a:spcAft>
                <a:spcPts val="800"/>
              </a:spcAft>
            </a:pPr>
            <a:r>
              <a:rPr lang="en-US" sz="2800" dirty="0">
                <a:solidFill>
                  <a:srgbClr val="C00000"/>
                </a:solidFill>
                <a:latin typeface="Cambria" panose="02040503050406030204" pitchFamily="18" charset="0"/>
                <a:ea typeface="Cambria" panose="02040503050406030204" pitchFamily="18" charset="0"/>
              </a:rPr>
              <a:t>8. Role of Field Officers and Emergency Responders Topics</a:t>
            </a:r>
          </a:p>
          <a:p>
            <a:pPr algn="just">
              <a:lnSpc>
                <a:spcPct val="120000"/>
              </a:lnSpc>
              <a:spcAft>
                <a:spcPts val="800"/>
              </a:spcAft>
            </a:pPr>
            <a:r>
              <a:rPr lang="en-US" sz="2800" dirty="0">
                <a:latin typeface="Cambria" panose="02040503050406030204" pitchFamily="18" charset="0"/>
                <a:ea typeface="Cambria" panose="02040503050406030204" pitchFamily="18" charset="0"/>
              </a:rPr>
              <a:t>Leadership during extreme weather Communication and coordination Safety of staff Emergency response planning Public rescue and assistance Special Emphasis Duty management during peak heat hours Welfare of frontline personnel.</a:t>
            </a:r>
          </a:p>
        </p:txBody>
      </p:sp>
    </p:spTree>
    <p:extLst>
      <p:ext uri="{BB962C8B-B14F-4D97-AF65-F5344CB8AC3E}">
        <p14:creationId xmlns:p14="http://schemas.microsoft.com/office/powerpoint/2010/main" val="3164886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395653"/>
            <a:ext cx="9083661" cy="5591909"/>
          </a:xfrm>
          <a:ln>
            <a:solidFill>
              <a:schemeClr val="accent1"/>
            </a:solidFill>
          </a:ln>
        </p:spPr>
        <p:txBody>
          <a:bodyPr>
            <a:noAutofit/>
          </a:bodyPr>
          <a:lstStyle/>
          <a:p>
            <a:pPr algn="just">
              <a:lnSpc>
                <a:spcPct val="120000"/>
              </a:lnSpc>
              <a:spcAft>
                <a:spcPts val="800"/>
              </a:spcAft>
            </a:pPr>
            <a:endParaRPr lang="en-US" sz="2800" dirty="0">
              <a:latin typeface="Cambria" panose="02040503050406030204" pitchFamily="18" charset="0"/>
              <a:ea typeface="Cambria" panose="02040503050406030204" pitchFamily="18" charset="0"/>
            </a:endParaRPr>
          </a:p>
          <a:p>
            <a:pPr algn="just">
              <a:lnSpc>
                <a:spcPct val="120000"/>
              </a:lnSpc>
              <a:spcAft>
                <a:spcPts val="800"/>
              </a:spcAft>
            </a:pPr>
            <a:r>
              <a:rPr lang="en-US" sz="2800" dirty="0">
                <a:solidFill>
                  <a:srgbClr val="FF0000"/>
                </a:solidFill>
                <a:latin typeface="Cambria" panose="02040503050406030204" pitchFamily="18" charset="0"/>
                <a:ea typeface="Cambria" panose="02040503050406030204" pitchFamily="18" charset="0"/>
              </a:rPr>
              <a:t>9.</a:t>
            </a:r>
            <a:r>
              <a:rPr lang="en-US" sz="2800" dirty="0">
                <a:latin typeface="Cambria" panose="02040503050406030204" pitchFamily="18" charset="0"/>
                <a:ea typeface="Cambria" panose="02040503050406030204" pitchFamily="18" charset="0"/>
              </a:rPr>
              <a:t> </a:t>
            </a:r>
            <a:r>
              <a:rPr lang="en-US" sz="2800" dirty="0">
                <a:solidFill>
                  <a:srgbClr val="C00000"/>
                </a:solidFill>
                <a:latin typeface="Cambria" panose="02040503050406030204" pitchFamily="18" charset="0"/>
                <a:ea typeface="Cambria" panose="02040503050406030204" pitchFamily="18" charset="0"/>
              </a:rPr>
              <a:t>Interactive Session / Question &amp; Answers</a:t>
            </a:r>
          </a:p>
          <a:p>
            <a:pPr algn="just">
              <a:lnSpc>
                <a:spcPct val="120000"/>
              </a:lnSpc>
              <a:spcAft>
                <a:spcPts val="800"/>
              </a:spcAft>
            </a:pPr>
            <a:endParaRPr lang="en-US" sz="2800" dirty="0">
              <a:solidFill>
                <a:srgbClr val="C00000"/>
              </a:solidFill>
              <a:latin typeface="Cambria" panose="02040503050406030204" pitchFamily="18" charset="0"/>
              <a:ea typeface="Cambria" panose="02040503050406030204" pitchFamily="18" charset="0"/>
            </a:endParaRPr>
          </a:p>
          <a:p>
            <a:pPr algn="just">
              <a:lnSpc>
                <a:spcPct val="120000"/>
              </a:lnSpc>
              <a:spcAft>
                <a:spcPts val="800"/>
              </a:spcAft>
            </a:pPr>
            <a:r>
              <a:rPr lang="en-US" sz="2800" dirty="0">
                <a:solidFill>
                  <a:srgbClr val="C00000"/>
                </a:solidFill>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rPr>
              <a:t>Activities Participant interaction Experience sharing Questions from trainees Discussion on local heat wave experiences.</a:t>
            </a:r>
          </a:p>
        </p:txBody>
      </p:sp>
    </p:spTree>
    <p:extLst>
      <p:ext uri="{BB962C8B-B14F-4D97-AF65-F5344CB8AC3E}">
        <p14:creationId xmlns:p14="http://schemas.microsoft.com/office/powerpoint/2010/main" val="1931929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1168400"/>
            <a:ext cx="9083661" cy="4819162"/>
          </a:xfrm>
          <a:ln>
            <a:solidFill>
              <a:schemeClr val="accent1"/>
            </a:solidFill>
          </a:ln>
        </p:spPr>
        <p:txBody>
          <a:bodyPr>
            <a:noAutofit/>
          </a:bodyPr>
          <a:lstStyle/>
          <a:p>
            <a:pPr algn="just">
              <a:lnSpc>
                <a:spcPct val="120000"/>
              </a:lnSpc>
              <a:spcAft>
                <a:spcPts val="800"/>
              </a:spcAft>
            </a:pPr>
            <a:r>
              <a:rPr lang="en-US" sz="2800" dirty="0">
                <a:solidFill>
                  <a:srgbClr val="C00000"/>
                </a:solidFill>
                <a:latin typeface="Cambria" panose="02040503050406030204" pitchFamily="18" charset="0"/>
                <a:ea typeface="Cambria" panose="02040503050406030204" pitchFamily="18" charset="0"/>
              </a:rPr>
              <a:t>10. Conclusion and Key Takeaways Summary Points.</a:t>
            </a:r>
          </a:p>
          <a:p>
            <a:pPr algn="just">
              <a:lnSpc>
                <a:spcPct val="120000"/>
              </a:lnSpc>
              <a:spcAft>
                <a:spcPts val="800"/>
              </a:spcAft>
            </a:pPr>
            <a:r>
              <a:rPr lang="en-US" sz="2800" dirty="0">
                <a:latin typeface="Cambria" panose="02040503050406030204" pitchFamily="18" charset="0"/>
                <a:ea typeface="Cambria" panose="02040503050406030204" pitchFamily="18" charset="0"/>
              </a:rPr>
              <a:t>Heat waves are a major emerging disaster risk Ground-level preparedness saves lives Coordination among departments is essential Public awareness is the strongest preventive tool Closing Message “Preparedness, awareness, and timely response are the keys to reducing heat wave impacts on society.”</a:t>
            </a: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41311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958551" y="1713297"/>
            <a:ext cx="9083661" cy="3060834"/>
          </a:xfrm>
          <a:ln>
            <a:solidFill>
              <a:schemeClr val="accent1"/>
            </a:solidFill>
          </a:ln>
        </p:spPr>
        <p:txBody>
          <a:bodyPr>
            <a:noAutofit/>
          </a:bodyPr>
          <a:lstStyle/>
          <a:p>
            <a:pPr algn="just">
              <a:lnSpc>
                <a:spcPct val="120000"/>
              </a:lnSpc>
              <a:spcAft>
                <a:spcPts val="800"/>
              </a:spcAft>
            </a:pPr>
            <a:endParaRPr lang="en-US" sz="1600" dirty="0">
              <a:latin typeface="Cambria" panose="02040503050406030204" pitchFamily="18" charset="0"/>
              <a:ea typeface="Cambria" panose="02040503050406030204" pitchFamily="18" charset="0"/>
            </a:endParaRPr>
          </a:p>
          <a:p>
            <a:pPr algn="ctr">
              <a:spcBef>
                <a:spcPts val="0"/>
              </a:spcBef>
            </a:pPr>
            <a:r>
              <a:rPr lang="en-US" sz="13800" b="1" i="1">
                <a:latin typeface="Britannic Bold" panose="020B0903060703020204" pitchFamily="34" charset="0"/>
                <a:ea typeface="Cambria" panose="02040503050406030204" pitchFamily="18" charset="0"/>
              </a:rPr>
              <a:t>Thank you</a:t>
            </a:r>
            <a:endParaRPr lang="en-US" sz="13800" b="1" i="1" dirty="0">
              <a:latin typeface="Britannic Bold" panose="020B0903060703020204" pitchFamily="34" charset="0"/>
              <a:ea typeface="Cambria" panose="02040503050406030204" pitchFamily="18" charset="0"/>
            </a:endParaRPr>
          </a:p>
          <a:p>
            <a:pPr algn="ctr">
              <a:spcBef>
                <a:spcPts val="0"/>
              </a:spcBef>
            </a:pPr>
            <a:endParaRPr lang="en-US" sz="1200" b="1" i="1" dirty="0">
              <a:latin typeface="Britannic Bold" panose="020B0903060703020204" pitchFamily="34" charset="0"/>
              <a:ea typeface="Cambria" panose="02040503050406030204" pitchFamily="18" charset="0"/>
            </a:endParaRPr>
          </a:p>
          <a:p>
            <a:pPr algn="r">
              <a:spcBef>
                <a:spcPts val="0"/>
              </a:spcBef>
            </a:pPr>
            <a:endParaRPr lang="en-US" b="1" i="1" dirty="0">
              <a:latin typeface="Britannic Bold" panose="020B0903060703020204" pitchFamily="34" charset="0"/>
              <a:ea typeface="Cambria" panose="02040503050406030204" pitchFamily="18" charset="0"/>
            </a:endParaRPr>
          </a:p>
          <a:p>
            <a:pPr algn="r">
              <a:spcBef>
                <a:spcPts val="0"/>
              </a:spcBef>
            </a:pPr>
            <a:endParaRPr lang="en-US" b="1" i="1" dirty="0">
              <a:latin typeface="Britannic Bold" panose="020B0903060703020204" pitchFamily="34" charset="0"/>
              <a:ea typeface="Cambria" panose="02040503050406030204" pitchFamily="18" charset="0"/>
            </a:endParaRPr>
          </a:p>
          <a:p>
            <a:pPr>
              <a:spcBef>
                <a:spcPts val="0"/>
              </a:spcBef>
            </a:pPr>
            <a:r>
              <a:rPr lang="en-US" sz="3200" b="1" i="1" dirty="0">
                <a:latin typeface="Britannic Bold" panose="020B0903060703020204" pitchFamily="34" charset="0"/>
                <a:ea typeface="Cambria" panose="02040503050406030204" pitchFamily="18" charset="0"/>
              </a:rPr>
              <a:t>                                                    R. Sudhakar</a:t>
            </a:r>
          </a:p>
          <a:p>
            <a:pPr algn="r">
              <a:spcBef>
                <a:spcPts val="0"/>
              </a:spcBef>
            </a:pPr>
            <a:r>
              <a:rPr lang="en-US" sz="3200" b="1" i="1" dirty="0">
                <a:latin typeface="Britannic Bold" panose="020B0903060703020204" pitchFamily="34" charset="0"/>
                <a:ea typeface="Cambria" panose="02040503050406030204" pitchFamily="18" charset="0"/>
              </a:rPr>
              <a:t>DFO, </a:t>
            </a:r>
            <a:r>
              <a:rPr lang="en-US" sz="3200" b="1" i="1" dirty="0" err="1">
                <a:latin typeface="Britannic Bold" panose="020B0903060703020204" pitchFamily="34" charset="0"/>
                <a:ea typeface="Cambria" panose="02040503050406030204" pitchFamily="18" charset="0"/>
              </a:rPr>
              <a:t>Kamareddy</a:t>
            </a:r>
            <a:endParaRPr lang="en-US" sz="3200" b="1" i="1" dirty="0">
              <a:latin typeface="Britannic Bold" panose="020B0903060703020204" pitchFamily="34" charset="0"/>
              <a:ea typeface="Cambria" panose="02040503050406030204" pitchFamily="18" charset="0"/>
            </a:endParaRPr>
          </a:p>
        </p:txBody>
      </p:sp>
    </p:spTree>
    <p:extLst>
      <p:ext uri="{BB962C8B-B14F-4D97-AF65-F5344CB8AC3E}">
        <p14:creationId xmlns:p14="http://schemas.microsoft.com/office/powerpoint/2010/main" val="162611474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167</TotalTime>
  <Words>504</Words>
  <Application>Microsoft Office PowerPoint</Application>
  <PresentationFormat>Widescreen</PresentationFormat>
  <Paragraphs>36</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Britannic Bold</vt:lpstr>
      <vt:lpstr>Calibri</vt:lpstr>
      <vt:lpstr>Cambria</vt:lpstr>
      <vt:lpstr>Century Gothic</vt:lpstr>
      <vt:lpstr>Wingdings 3</vt:lpstr>
      <vt:lpstr>Wisp</vt:lpstr>
      <vt:lpstr>“Understanding Heat Waves from the  Ground Perspective”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fireoffice</dc:creator>
  <cp:lastModifiedBy>fireoffice</cp:lastModifiedBy>
  <cp:revision>23</cp:revision>
  <cp:lastPrinted>2026-05-15T12:39:06Z</cp:lastPrinted>
  <dcterms:created xsi:type="dcterms:W3CDTF">2026-05-14T04:42:45Z</dcterms:created>
  <dcterms:modified xsi:type="dcterms:W3CDTF">2026-05-15T12:39:13Z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419a82f1827c41dea42f4fd71f876ed3</vt:lpwstr>
  </property>
</Properties>
</file>